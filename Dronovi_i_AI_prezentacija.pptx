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43f78ebf064d7a" /><Relationship Type="http://schemas.openxmlformats.org/officeDocument/2006/relationships/extended-properties" Target="/docProps/app.xml" Id="R00e5f8da86f9433c" /><Relationship Type="http://schemas.openxmlformats.org/officeDocument/2006/relationships/officeDocument" Target="/ppt/presentation.xml" Id="Re7e6dd65e0d74a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8a38f8c7974af1"/>
  </p:sldMasterIdLst>
  <p:notesMasterIdLst>
    <p:notesMasterId xmlns:r="http://schemas.openxmlformats.org/officeDocument/2006/relationships" r:id="R145bae0103ea437d"/>
  </p:notesMasterIdLst>
  <p:sldIdLst>
    <p:sldId xmlns:r="http://schemas.openxmlformats.org/officeDocument/2006/relationships" id="256" r:id="Rcead58f8378c4b76"/>
    <p:sldId xmlns:r="http://schemas.openxmlformats.org/officeDocument/2006/relationships" id="257" r:id="R99eb820fd6a645cd"/>
    <p:sldId xmlns:r="http://schemas.openxmlformats.org/officeDocument/2006/relationships" id="258" r:id="R43fa416411be41e4"/>
    <p:sldId xmlns:r="http://schemas.openxmlformats.org/officeDocument/2006/relationships" id="259" r:id="Re0418a767a9043b7"/>
    <p:sldId xmlns:r="http://schemas.openxmlformats.org/officeDocument/2006/relationships" id="260" r:id="Rdff0eecb9a754594"/>
    <p:sldId xmlns:r="http://schemas.openxmlformats.org/officeDocument/2006/relationships" id="261" r:id="R91b62f8ebc7c4ef0"/>
    <p:sldId xmlns:r="http://schemas.openxmlformats.org/officeDocument/2006/relationships" id="262" r:id="R5e668b59159e49e2"/>
    <p:sldId xmlns:r="http://schemas.openxmlformats.org/officeDocument/2006/relationships" id="263" r:id="R56514b828c684f70"/>
    <p:sldId xmlns:r="http://schemas.openxmlformats.org/officeDocument/2006/relationships" id="264" r:id="R66cd74da226f43d7"/>
    <p:sldId xmlns:r="http://schemas.openxmlformats.org/officeDocument/2006/relationships" id="265" r:id="R7600f52fdda845d6"/>
    <p:sldId xmlns:r="http://schemas.openxmlformats.org/officeDocument/2006/relationships" id="266" r:id="Ra4392fa001354606"/>
    <p:sldId xmlns:r="http://schemas.openxmlformats.org/officeDocument/2006/relationships" id="267" r:id="Re24d2936fd1140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b7d615ccf7439e" /><Relationship Type="http://schemas.openxmlformats.org/officeDocument/2006/relationships/slideMaster" Target="/ppt/slideMasters/slideMaster1.xml" Id="R188a38f8c7974af1" /><Relationship Type="http://schemas.openxmlformats.org/officeDocument/2006/relationships/notesMaster" Target="/ppt/notesMasters/notesMaster1.xml" Id="R145bae0103ea437d" /><Relationship Type="http://schemas.openxmlformats.org/officeDocument/2006/relationships/presProps" Target="/ppt/presProps.xml" Id="R8c2289400e024dfa" /><Relationship Type="http://schemas.openxmlformats.org/officeDocument/2006/relationships/tableStyles" Target="/ppt/tableStyles.xml" Id="R833ce7045cc84070" /><Relationship Type="http://schemas.openxmlformats.org/officeDocument/2006/relationships/slide" Target="/ppt/slides/slide1.xml" Id="Rcead58f8378c4b76" /><Relationship Type="http://schemas.openxmlformats.org/officeDocument/2006/relationships/slide" Target="/ppt/slides/slide2.xml" Id="R99eb820fd6a645cd" /><Relationship Type="http://schemas.openxmlformats.org/officeDocument/2006/relationships/slide" Target="/ppt/slides/slide3.xml" Id="R43fa416411be41e4" /><Relationship Type="http://schemas.openxmlformats.org/officeDocument/2006/relationships/slide" Target="/ppt/slides/slide4.xml" Id="Re0418a767a9043b7" /><Relationship Type="http://schemas.openxmlformats.org/officeDocument/2006/relationships/slide" Target="/ppt/slides/slide5.xml" Id="Rdff0eecb9a754594" /><Relationship Type="http://schemas.openxmlformats.org/officeDocument/2006/relationships/slide" Target="/ppt/slides/slide6.xml" Id="R91b62f8ebc7c4ef0" /><Relationship Type="http://schemas.openxmlformats.org/officeDocument/2006/relationships/slide" Target="/ppt/slides/slide7.xml" Id="R5e668b59159e49e2" /><Relationship Type="http://schemas.openxmlformats.org/officeDocument/2006/relationships/slide" Target="/ppt/slides/slide8.xml" Id="R56514b828c684f70" /><Relationship Type="http://schemas.openxmlformats.org/officeDocument/2006/relationships/slide" Target="/ppt/slides/slide9.xml" Id="R66cd74da226f43d7" /><Relationship Type="http://schemas.openxmlformats.org/officeDocument/2006/relationships/slide" Target="/ppt/slides/slide10.xml" Id="R7600f52fdda845d6" /><Relationship Type="http://schemas.openxmlformats.org/officeDocument/2006/relationships/slide" Target="/ppt/slides/slide11.xml" Id="Ra4392fa001354606" /><Relationship Type="http://schemas.openxmlformats.org/officeDocument/2006/relationships/slide" Target="/ppt/slides/slide12.xml" Id="Re24d2936fd1140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09b2fc6ccd44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cd10e029944abe" /><Relationship Type="http://schemas.openxmlformats.org/officeDocument/2006/relationships/notesMaster" Target="/ppt/notesMasters/notesMaster1.xml" Id="R5893a72c8ba445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1070260b284c6e" /><Relationship Type="http://schemas.openxmlformats.org/officeDocument/2006/relationships/notesMaster" Target="/ppt/notesMasters/notesMaster1.xml" Id="Rf1ed3933b44c40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af3f942a964251" /><Relationship Type="http://schemas.openxmlformats.org/officeDocument/2006/relationships/notesMaster" Target="/ppt/notesMasters/notesMaster1.xml" Id="R67b7b2df854643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97935ac9814fc1" /><Relationship Type="http://schemas.openxmlformats.org/officeDocument/2006/relationships/notesMaster" Target="/ppt/notesMasters/notesMaster1.xml" Id="R704c4f4bc2554c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ac81c2038244b2" /><Relationship Type="http://schemas.openxmlformats.org/officeDocument/2006/relationships/notesMaster" Target="/ppt/notesMasters/notesMaster1.xml" Id="R0421fb6568f04f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5d59d8086b40dd" /><Relationship Type="http://schemas.openxmlformats.org/officeDocument/2006/relationships/notesMaster" Target="/ppt/notesMasters/notesMaster1.xml" Id="Rbc804ad9386e44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bd190984ef43d0" /><Relationship Type="http://schemas.openxmlformats.org/officeDocument/2006/relationships/notesMaster" Target="/ppt/notesMasters/notesMaster1.xml" Id="Rea01a074e2fc4c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9755b6b3a34397" /><Relationship Type="http://schemas.openxmlformats.org/officeDocument/2006/relationships/notesMaster" Target="/ppt/notesMasters/notesMaster1.xml" Id="R4b77ef7d633042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844569725c4b86" /><Relationship Type="http://schemas.openxmlformats.org/officeDocument/2006/relationships/notesMaster" Target="/ppt/notesMasters/notesMaster1.xml" Id="Rb23f1b7f46d746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0581e6fe7f4fc4" /><Relationship Type="http://schemas.openxmlformats.org/officeDocument/2006/relationships/notesMaster" Target="/ppt/notesMasters/notesMaster1.xml" Id="Rf085208e330d4c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03e00782d44394" /><Relationship Type="http://schemas.openxmlformats.org/officeDocument/2006/relationships/notesMaster" Target="/ppt/notesMasters/notesMaster1.xml" Id="Rab86cdb4f21345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3f09d59a8b4b02" /><Relationship Type="http://schemas.openxmlformats.org/officeDocument/2006/relationships/notesMaster" Target="/ppt/notesMasters/notesMaster1.xml" Id="R50fc7fbe842e44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IZVORI I ZASLUGE</a:t>
            </a:r>
          </a:p>
          <a:p xmlns:a="http://schemas.openxmlformats.org/drawingml/2006/main">
            <a:r>
              <a:t>https://enterprise.dji.com/public-safety/search-and-rescue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Enterprise. https://enterprise.dji.com/public-safety/search-and-rescue</a:t>
            </a:r>
          </a:p>
          <a:p xmlns:a="http://schemas.openxmlformats.org/drawingml/2006/main">
            <a:r>
              <a:t>Slika: https://www-cdn.djiits.com/cms/uploads/1d26beb7052f007b2f0560b2ac11c916.jpg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IZVORI I ZASLUGE</a:t>
            </a:r>
          </a:p>
          <a:p xmlns:a="http://schemas.openxmlformats.org/drawingml/2006/main">
            <a:r>
              <a:t>https://enterprise.dji.com/public-safety/search-and-rescue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Enterprise. https://enterprise.dji.com/public-safety/search-and-rescue</a:t>
            </a:r>
          </a:p>
          <a:p xmlns:a="http://schemas.openxmlformats.org/drawingml/2006/main">
            <a:r>
              <a:t>Slika: https://www-cdn.djiits.com/cms/uploads/7c4c0ba15a2f01a93b544e11b9668987.jpg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IZVORI I ZASLUGE</a:t>
            </a:r>
          </a:p>
          <a:p xmlns:a="http://schemas.openxmlformats.org/drawingml/2006/main">
            <a:r>
              <a:t>https://www.dji.com/media-center/announcements/matrice-4-series</a:t>
            </a:r>
          </a:p>
          <a:p xmlns:a="http://schemas.openxmlformats.org/drawingml/2006/main">
            <a:r>
              <a:t>https://enterprise.dji.com/public-safety/search-and-rescue</a:t>
            </a:r>
          </a:p>
          <a:p xmlns:a="http://schemas.openxmlformats.org/drawingml/2006/main">
            <a:r>
              <a:t>https://docs.px4.io/v1.14/en/companion_computer/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DJI. https://www.dji.com/media-center/announcements/matrice-4-series</a:t>
            </a:r>
          </a:p>
          <a:p xmlns:a="http://schemas.openxmlformats.org/drawingml/2006/main">
            <a:r>
              <a:t>Slika: https://www-cdn.djiits.com/cms/uploads/c72f0e3ee037a2dbea5516a6c0f61c51.png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IZVORI I ZASLUGE</a:t>
            </a:r>
          </a:p>
          <a:p xmlns:a="http://schemas.openxmlformats.org/drawingml/2006/main">
            <a:r>
              <a:t>https://www.dji.com/media-center/announcements/matrice-4-series</a:t>
            </a:r>
          </a:p>
          <a:p xmlns:a="http://schemas.openxmlformats.org/drawingml/2006/main">
            <a:r>
              <a:t>https://docs.px4.io/v1.14/en/companion_computer/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DJI. https://www.dji.com/media-center/announcements/matrice-4-series</a:t>
            </a:r>
          </a:p>
          <a:p xmlns:a="http://schemas.openxmlformats.org/drawingml/2006/main">
            <a:r>
              <a:t>Slika: https://www-cdn.djiits.com/cms/uploads/0da7a1c2c07e8cc3f2b6524049ced98a.png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IZVORI I ZASLUGE</a:t>
            </a:r>
          </a:p>
          <a:p xmlns:a="http://schemas.openxmlformats.org/drawingml/2006/main">
            <a:r>
              <a:t>https://docs.ultralytics.com/datasets/detect/visdrone/</a:t>
            </a:r>
          </a:p>
          <a:p xmlns:a="http://schemas.openxmlformats.org/drawingml/2006/main">
            <a:r>
              <a:t>https://docs.ultralytics.com/tasks/detect/</a:t>
            </a:r>
          </a:p>
          <a:p xmlns:a="http://schemas.openxmlformats.org/drawingml/2006/main">
            <a:r>
              <a:t>https://docs.ultralytics.com/modes/train/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VisDrone / Ultralytics documentation. https://docs.ultralytics.com/datasets/detect/visdrone/</a:t>
            </a:r>
          </a:p>
          <a:p xmlns:a="http://schemas.openxmlformats.org/drawingml/2006/main">
            <a:r>
              <a:t>Slika: https://cdn.ul.run/i/ba4380b79e064e9f1e2803e69eaa0ace.avif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IZVORI I ZASLUGE</a:t>
            </a:r>
          </a:p>
          <a:p xmlns:a="http://schemas.openxmlformats.org/drawingml/2006/main">
            <a:r>
              <a:t>https://docs.ultralytics.com/models/yolov8/</a:t>
            </a:r>
          </a:p>
          <a:p xmlns:a="http://schemas.openxmlformats.org/drawingml/2006/main">
            <a:r>
              <a:t>https://docs.ultralytics.com/modes/predict/</a:t>
            </a:r>
          </a:p>
          <a:p xmlns:a="http://schemas.openxmlformats.org/drawingml/2006/main">
            <a:r>
              <a:t>https://docs.ultralytics.com/modes/train/</a:t>
            </a:r>
          </a:p>
          <a:p xmlns:a="http://schemas.openxmlformats.org/drawingml/2006/main">
            <a:r>
              <a:t>https://arxiv.org/abs/1506.02640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IZVORI I ZASLUGE</a:t>
            </a:r>
          </a:p>
          <a:p xmlns:a="http://schemas.openxmlformats.org/drawingml/2006/main">
            <a:r>
              <a:t>https://docs.ultralytics.com/modes/predict/</a:t>
            </a:r>
          </a:p>
          <a:p xmlns:a="http://schemas.openxmlformats.org/drawingml/2006/main">
            <a:r>
              <a:t>https://enterprise.dji.com/public-safety/search-and-rescue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IZVORI I ZASLUGE</a:t>
            </a:r>
          </a:p>
          <a:p xmlns:a="http://schemas.openxmlformats.org/drawingml/2006/main">
            <a:r>
              <a:t>https://enterprise.dji.com/public-safety/search-and-rescue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Enterprise. https://enterprise.dji.com/public-safety/search-and-rescue</a:t>
            </a:r>
          </a:p>
          <a:p xmlns:a="http://schemas.openxmlformats.org/drawingml/2006/main">
            <a:r>
              <a:t>Slika: https://www-cdn.djiits.com/dps/6e2ff7d36720ecd0c44fd6570cde6f15.jpg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IZVORI I ZASLUGE</a:t>
            </a:r>
          </a:p>
          <a:p xmlns:a="http://schemas.openxmlformats.org/drawingml/2006/main">
            <a:r>
              <a:t>https://docs.px4.io/main/en/flight_stack/controller_diagrams</a:t>
            </a:r>
          </a:p>
          <a:p xmlns:a="http://schemas.openxmlformats.org/drawingml/2006/main">
            <a:r>
              <a:t>https://docs.px4.io/v1.14/en/companion_computer/</a:t>
            </a:r>
          </a:p>
          <a:p xmlns:a="http://schemas.openxmlformats.org/drawingml/2006/main">
            <a:r>
              <a:t>https://docs.px4.io/main/en/flight_controller/pixhawk6c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Holybro / PX4. https://docs.px4.io/main/en/flight_controller/pixhawk6c</a:t>
            </a:r>
          </a:p>
          <a:p xmlns:a="http://schemas.openxmlformats.org/drawingml/2006/main">
            <a:r>
              <a:t>Slika: https://docs.px4.io/main/assets/pixhawk6c_hero_upright.CgV8-lyw.png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IZVORI I ZASLUGE</a:t>
            </a:r>
          </a:p>
          <a:p xmlns:a="http://schemas.openxmlformats.org/drawingml/2006/main">
            <a:r>
              <a:t>https://enterprise.dji.com/public-safety/search-and-rescue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Enterprise. https://enterprise.dji.com/public-safety/search-and-rescue</a:t>
            </a:r>
          </a:p>
          <a:p xmlns:a="http://schemas.openxmlformats.org/drawingml/2006/main">
            <a:r>
              <a:t>Slika: https://www-cdn.djiits.com/cms/uploads/809cd4177697f91fbb867b53e6955c4e.jpg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IZVORI I ZASLUGE</a:t>
            </a:r>
          </a:p>
          <a:p xmlns:a="http://schemas.openxmlformats.org/drawingml/2006/main">
            <a:r>
              <a:t>https://enterprise.dji.com/public-safety/search-and-rescue</a:t>
            </a:r>
          </a:p>
          <a:p xmlns:a="http://schemas.openxmlformats.org/drawingml/2006/main">
            <a:r>
              <a:t>https://docs.ultralytics.com/modes/predict/</a:t>
            </a:r>
          </a:p>
          <a:p xmlns:a="http://schemas.openxmlformats.org/drawingml/2006/main">
            <a:r>
              <a:t>https://docs.px4.io/main/en/config/safety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Enterprise. https://enterprise.dji.com/public-safety/search-and-rescue</a:t>
            </a:r>
          </a:p>
          <a:p xmlns:a="http://schemas.openxmlformats.org/drawingml/2006/main">
            <a:r>
              <a:t>Slika: https://www-cdn.djiits.com/dps/58087681e073088be8a89e935c1976b2.jpg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IZVORI I ZASLUGE</a:t>
            </a:r>
          </a:p>
          <a:p xmlns:a="http://schemas.openxmlformats.org/drawingml/2006/main">
            <a:r>
              <a:t>https://docs.px4.io/main/en/flight_stack/controller_diagrams</a:t>
            </a:r>
          </a:p>
          <a:p xmlns:a="http://schemas.openxmlformats.org/drawingml/2006/main">
            <a:r>
              <a:t>https://docs.px4.io/v1.14/en/companion_computer/</a:t>
            </a:r>
          </a:p>
          <a:p xmlns:a="http://schemas.openxmlformats.org/drawingml/2006/main">
            <a:r>
              <a:t>https://docs.ultralytics.com/models/yolov8/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160ec2af84e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c5dc78a41648a8" /><Relationship Type="http://schemas.openxmlformats.org/officeDocument/2006/relationships/slideLayout" Target="/ppt/slideLayouts/slideLayout1.xml" Id="R7f72458f16ec4d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72458f16ec4d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31c6dde2e4f37" /><Relationship Type="http://schemas.openxmlformats.org/officeDocument/2006/relationships/image" Target="/ppt/media/image.jpeg" Id="Rea3ddcebe7d84c8e" /><Relationship Type="http://schemas.openxmlformats.org/officeDocument/2006/relationships/notesSlide" Target="/ppt/notesSlides/notesSlide1.xml" Id="R38e749357e8045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d8400b2154c2f" /><Relationship Type="http://schemas.openxmlformats.org/officeDocument/2006/relationships/image" Target="/ppt/media/image2.jpeg" Id="R3ccb81bbccf94b54" /><Relationship Type="http://schemas.openxmlformats.org/officeDocument/2006/relationships/notesSlide" Target="/ppt/notesSlides/notesSlide2.xml" Id="R9e19a36ed73d4a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3b83c6da2417d" /><Relationship Type="http://schemas.openxmlformats.org/officeDocument/2006/relationships/image" Target="/ppt/media/image.png" Id="R182778dacf8b4714" /><Relationship Type="http://schemas.openxmlformats.org/officeDocument/2006/relationships/notesSlide" Target="/ppt/notesSlides/notesSlide3.xml" Id="Rac1b7d4ef9204f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d17e01b3c4109" /><Relationship Type="http://schemas.openxmlformats.org/officeDocument/2006/relationships/image" Target="/ppt/media/image2.png" Id="R65f5f794e498447d" /><Relationship Type="http://schemas.openxmlformats.org/officeDocument/2006/relationships/notesSlide" Target="/ppt/notesSlides/notesSlide4.xml" Id="R6abf70a4d9f04e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b12e5a0b94712" /><Relationship Type="http://schemas.openxmlformats.org/officeDocument/2006/relationships/image" Target="/ppt/media/image3.png" Id="Rdeecec327fa84d8a" /><Relationship Type="http://schemas.openxmlformats.org/officeDocument/2006/relationships/notesSlide" Target="/ppt/notesSlides/notesSlide5.xml" Id="R923ce6b2398545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0a37c86cd47dd" /><Relationship Type="http://schemas.openxmlformats.org/officeDocument/2006/relationships/notesSlide" Target="/ppt/notesSlides/notesSlide6.xml" Id="R3a715c68581f47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85ba1993e4f50" /><Relationship Type="http://schemas.openxmlformats.org/officeDocument/2006/relationships/notesSlide" Target="/ppt/notesSlides/notesSlide7.xml" Id="R2c02e0a9274a42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dd47e86ed44eb" /><Relationship Type="http://schemas.openxmlformats.org/officeDocument/2006/relationships/image" Target="/ppt/media/image3.jpeg" Id="Rc5bb7c3bda2b43a3" /><Relationship Type="http://schemas.openxmlformats.org/officeDocument/2006/relationships/notesSlide" Target="/ppt/notesSlides/notesSlide8.xml" Id="Ra0caf440310746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d05d5dcb14e0b" /><Relationship Type="http://schemas.openxmlformats.org/officeDocument/2006/relationships/image" Target="/ppt/media/image4.png" Id="Rf6d3b84f6aeb489b" /><Relationship Type="http://schemas.openxmlformats.org/officeDocument/2006/relationships/notesSlide" Target="/ppt/notesSlides/notesSlide9.xml" Id="R2598b38924964c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bf7a2c7a5481f" /><Relationship Type="http://schemas.openxmlformats.org/officeDocument/2006/relationships/image" Target="/ppt/media/image4.jpeg" Id="R5402bde2834f43b3" /><Relationship Type="http://schemas.openxmlformats.org/officeDocument/2006/relationships/notesSlide" Target="/ppt/notesSlides/notesSlide10.xml" Id="Rdecebe88aae842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6141e43144da8" /><Relationship Type="http://schemas.openxmlformats.org/officeDocument/2006/relationships/image" Target="/ppt/media/image5.jpeg" Id="Rcbd7a89fba47406f" /><Relationship Type="http://schemas.openxmlformats.org/officeDocument/2006/relationships/notesSlide" Target="/ppt/notesSlides/notesSlide11.xml" Id="R4bdb780a24264b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82f3eb3444b69" /><Relationship Type="http://schemas.openxmlformats.org/officeDocument/2006/relationships/notesSlide" Target="/ppt/notesSlides/notesSlide12.xml" Id="Raec29cfdca2342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D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_1">
            <a:extLst xmlns:a="http://schemas.openxmlformats.org/drawingml/2006/main">
              <a:ext uri="{FF2B5EF4-FFF2-40B4-BE49-F238E27FC236}">
                <a16:creationId xmlns:a16="http://schemas.microsoft.com/office/drawing/2014/main" id="{9775B07E-3BDC-4EDB-BA4D-57A0320D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Dronovi i veštačka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inteligencija</a:t>
            </a:r>
          </a:p>
        </p:txBody>
      </p:sp>
      <p:sp>
        <p:nvSpPr>
          <p:cNvPr id="2" name="text_2">
            <a:extLst xmlns:a="http://schemas.openxmlformats.org/drawingml/2006/main">
              <a:ext uri="{FF2B5EF4-FFF2-40B4-BE49-F238E27FC236}">
                <a16:creationId xmlns:a16="http://schemas.microsoft.com/office/drawing/2014/main" id="{C8365189-5156-43B0-83FC-1738B885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4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8E4DA"/>
                </a:solidFill>
                <a:latin typeface="Arial"/>
                <a:ea typeface="Arial"/>
                <a:cs typeface="Arial"/>
              </a:rPr>
              <a:t>Primena u potrazi i spasavanju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ddcebe7d84c8e"/>
          <a:srcRect xmlns:a="http://schemas.openxmlformats.org/drawingml/2006/main" l="0" t="7422" r="0" b="7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705100"/>
            <a:ext cx="12192000" cy="4152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32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_3">
            <a:extLst xmlns:a="http://schemas.openxmlformats.org/drawingml/2006/main">
              <a:ext uri="{FF2B5EF4-FFF2-40B4-BE49-F238E27FC236}">
                <a16:creationId xmlns:a16="http://schemas.microsoft.com/office/drawing/2014/main" id="{DE0B5655-67C5-4E5C-AFD9-214253B3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Potraga na velikom terenu</a:t>
            </a:r>
          </a:p>
        </p:txBody>
      </p:sp>
      <p:sp>
        <p:nvSpPr>
          <p:cNvPr id="2" name="text_4">
            <a:extLst xmlns:a="http://schemas.openxmlformats.org/drawingml/2006/main">
              <a:ext uri="{FF2B5EF4-FFF2-40B4-BE49-F238E27FC236}">
                <a16:creationId xmlns:a16="http://schemas.microsoft.com/office/drawing/2014/main" id="{E7836243-5C82-447E-B00C-D180998E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b81bbccf94b54"/>
          <a:srcRect xmlns:a="http://schemas.openxmlformats.org/drawingml/2006/main" l="459" t="0" r="4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10972800" cy="2076450"/>
          </a:xfrm>
          <a:prstGeom xmlns:a="http://schemas.openxmlformats.org/drawingml/2006/main" prst="rect">
            <a:avLst/>
          </a:prstGeom>
        </p:spPr>
      </p:pic>
      <p:sp>
        <p:nvSpPr>
          <p:cNvPr id="4" name="text_5">
            <a:extLst xmlns:a="http://schemas.openxmlformats.org/drawingml/2006/main">
              <a:ext uri="{FF2B5EF4-FFF2-40B4-BE49-F238E27FC236}">
                <a16:creationId xmlns:a16="http://schemas.microsoft.com/office/drawing/2014/main" id="{559E0279-BAA3-468E-8E31-39827CD8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Velika površina</a:t>
            </a:r>
          </a:p>
        </p:txBody>
      </p:sp>
      <p:sp>
        <p:nvSpPr>
          <p:cNvPr id="5" name="text_6">
            <a:extLst xmlns:a="http://schemas.openxmlformats.org/drawingml/2006/main">
              <a:ext uri="{FF2B5EF4-FFF2-40B4-BE49-F238E27FC236}">
                <a16:creationId xmlns:a16="http://schemas.microsoft.com/office/drawing/2014/main" id="{B9597491-6E95-4AB5-A54E-7AADD959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Mnogo prostora za pregled</a:t>
            </a:r>
          </a:p>
        </p:txBody>
      </p:sp>
      <p:sp>
        <p:nvSpPr>
          <p:cNvPr id="6" name="text_7">
            <a:extLst xmlns:a="http://schemas.openxmlformats.org/drawingml/2006/main">
              <a:ext uri="{FF2B5EF4-FFF2-40B4-BE49-F238E27FC236}">
                <a16:creationId xmlns:a16="http://schemas.microsoft.com/office/drawing/2014/main" id="{63E981F2-73B0-43E4-B0BD-B852CD89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81475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Težak pristup</a:t>
            </a:r>
          </a:p>
        </p:txBody>
      </p:sp>
      <p:sp>
        <p:nvSpPr>
          <p:cNvPr id="7" name="text_8">
            <a:extLst xmlns:a="http://schemas.openxmlformats.org/drawingml/2006/main">
              <a:ext uri="{FF2B5EF4-FFF2-40B4-BE49-F238E27FC236}">
                <a16:creationId xmlns:a16="http://schemas.microsoft.com/office/drawing/2014/main" id="{E5194099-7AE3-494E-9515-57CD50E6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Planine, šume i poplave</a:t>
            </a:r>
          </a:p>
        </p:txBody>
      </p:sp>
      <p:sp>
        <p:nvSpPr>
          <p:cNvPr id="8" name="text_9">
            <a:extLst xmlns:a="http://schemas.openxmlformats.org/drawingml/2006/main">
              <a:ext uri="{FF2B5EF4-FFF2-40B4-BE49-F238E27FC236}">
                <a16:creationId xmlns:a16="http://schemas.microsoft.com/office/drawing/2014/main" id="{9BA52FB2-C673-42A3-98A3-61D4F46D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81475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Ograničeno vreme</a:t>
            </a:r>
          </a:p>
        </p:txBody>
      </p:sp>
      <p:sp>
        <p:nvSpPr>
          <p:cNvPr id="9" name="text_10">
            <a:extLst xmlns:a="http://schemas.openxmlformats.org/drawingml/2006/main">
              <a:ext uri="{FF2B5EF4-FFF2-40B4-BE49-F238E27FC236}">
                <a16:creationId xmlns:a16="http://schemas.microsoft.com/office/drawing/2014/main" id="{FF219199-468F-4C2C-8E8E-1338D9AA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006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Brže pronalaženje tragova</a:t>
            </a:r>
          </a:p>
        </p:txBody>
      </p:sp>
    </p:spTree>
    <p:extLst>
      <p:ext uri="{BB962C8B-B14F-4D97-AF65-F5344CB8AC3E}">
        <p14:creationId xmlns:p14="http://schemas.microsoft.com/office/powerpoint/2010/main" val="1783623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_11">
            <a:extLst xmlns:a="http://schemas.openxmlformats.org/drawingml/2006/main">
              <a:ext uri="{FF2B5EF4-FFF2-40B4-BE49-F238E27FC236}">
                <a16:creationId xmlns:a16="http://schemas.microsoft.com/office/drawing/2014/main" id="{E5D70BDA-30AC-408A-AD5D-F026EBA0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Šta dron dobija kao ulaz?</a:t>
            </a:r>
          </a:p>
        </p:txBody>
      </p:sp>
      <p:sp>
        <p:nvSpPr>
          <p:cNvPr id="2" name="text_12">
            <a:extLst xmlns:a="http://schemas.openxmlformats.org/drawingml/2006/main">
              <a:ext uri="{FF2B5EF4-FFF2-40B4-BE49-F238E27FC236}">
                <a16:creationId xmlns:a16="http://schemas.microsoft.com/office/drawing/2014/main" id="{8A39E10E-40DC-48A5-97AD-B57BD583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778dacf8b4714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5772150" cy="3505200"/>
          </a:xfrm>
          <a:prstGeom xmlns:a="http://schemas.openxmlformats.org/drawingml/2006/main" prst="rect">
            <a:avLst/>
          </a:prstGeom>
        </p:spPr>
      </p:pic>
      <p:sp>
        <p:nvSpPr>
          <p:cNvPr id="4" name="text_13">
            <a:extLst xmlns:a="http://schemas.openxmlformats.org/drawingml/2006/main">
              <a:ext uri="{FF2B5EF4-FFF2-40B4-BE49-F238E27FC236}">
                <a16:creationId xmlns:a16="http://schemas.microsoft.com/office/drawing/2014/main" id="{30C96755-103C-4E6E-B783-08708A4F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577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Kamere i senzori prikupljaju podatke</a:t>
            </a:r>
          </a:p>
        </p:txBody>
      </p:sp>
      <p:sp>
        <p:nvSpPr>
          <p:cNvPr id="5" name="text_14">
            <a:extLst xmlns:a="http://schemas.openxmlformats.org/drawingml/2006/main">
              <a:ext uri="{FF2B5EF4-FFF2-40B4-BE49-F238E27FC236}">
                <a16:creationId xmlns:a16="http://schemas.microsoft.com/office/drawing/2014/main" id="{0B5D327B-D95E-4EF3-986E-7882FC09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954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B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B29"/>
                </a:solidFill>
                <a:latin typeface="Arial"/>
                <a:ea typeface="Arial"/>
                <a:cs typeface="Arial"/>
              </a:rPr>
              <a:t>Slika i video</a:t>
            </a:r>
          </a:p>
        </p:txBody>
      </p:sp>
      <p:sp>
        <p:nvSpPr>
          <p:cNvPr id="6" name="text_15">
            <a:extLst xmlns:a="http://schemas.openxmlformats.org/drawingml/2006/main">
              <a:ext uri="{FF2B5EF4-FFF2-40B4-BE49-F238E27FC236}">
                <a16:creationId xmlns:a16="http://schemas.microsoft.com/office/drawing/2014/main" id="{32162F1A-E77F-4A13-8047-D684D421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859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Oblik, boja i položaj objekata</a:t>
            </a:r>
          </a:p>
        </p:txBody>
      </p:sp>
      <p:sp>
        <p:nvSpPr>
          <p:cNvPr id="7" name="text_16">
            <a:extLst xmlns:a="http://schemas.openxmlformats.org/drawingml/2006/main">
              <a:ext uri="{FF2B5EF4-FFF2-40B4-BE49-F238E27FC236}">
                <a16:creationId xmlns:a16="http://schemas.microsoft.com/office/drawing/2014/main" id="{74AF6491-2B06-4FB2-A1A4-2BB4292D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717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B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B29"/>
                </a:solidFill>
                <a:latin typeface="Arial"/>
                <a:ea typeface="Arial"/>
                <a:cs typeface="Arial"/>
              </a:rPr>
              <a:t>Termalna slika</a:t>
            </a:r>
          </a:p>
        </p:txBody>
      </p:sp>
      <p:sp>
        <p:nvSpPr>
          <p:cNvPr id="8" name="text_17">
            <a:extLst xmlns:a="http://schemas.openxmlformats.org/drawingml/2006/main">
              <a:ext uri="{FF2B5EF4-FFF2-40B4-BE49-F238E27FC236}">
                <a16:creationId xmlns:a16="http://schemas.microsoft.com/office/drawing/2014/main" id="{AF643CED-1EDF-4FA6-931F-EA17FC08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Razlike u toplotnom zračenju</a:t>
            </a:r>
          </a:p>
        </p:txBody>
      </p:sp>
      <p:sp>
        <p:nvSpPr>
          <p:cNvPr id="9" name="text_18">
            <a:extLst xmlns:a="http://schemas.openxmlformats.org/drawingml/2006/main">
              <a:ext uri="{FF2B5EF4-FFF2-40B4-BE49-F238E27FC236}">
                <a16:creationId xmlns:a16="http://schemas.microsoft.com/office/drawing/2014/main" id="{2F74AF3E-6D78-40B0-94D9-BF3343F2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481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B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B29"/>
                </a:solidFill>
                <a:latin typeface="Arial"/>
                <a:ea typeface="Arial"/>
                <a:cs typeface="Arial"/>
              </a:rPr>
              <a:t>GPS položaj</a:t>
            </a:r>
          </a:p>
        </p:txBody>
      </p:sp>
      <p:sp>
        <p:nvSpPr>
          <p:cNvPr id="10" name="text_19">
            <a:extLst xmlns:a="http://schemas.openxmlformats.org/drawingml/2006/main">
              <a:ext uri="{FF2B5EF4-FFF2-40B4-BE49-F238E27FC236}">
                <a16:creationId xmlns:a16="http://schemas.microsoft.com/office/drawing/2014/main" id="{05C1E966-4B1D-42F3-B40F-B8DA4102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3862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Lokacija drona</a:t>
            </a:r>
          </a:p>
        </p:txBody>
      </p:sp>
      <p:sp>
        <p:nvSpPr>
          <p:cNvPr id="11" name="text_20">
            <a:extLst xmlns:a="http://schemas.openxmlformats.org/drawingml/2006/main">
              <a:ext uri="{FF2B5EF4-FFF2-40B4-BE49-F238E27FC236}">
                <a16:creationId xmlns:a16="http://schemas.microsoft.com/office/drawing/2014/main" id="{F5C24C89-B94E-434D-A5CB-CB83F80C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244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B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B29"/>
                </a:solidFill>
                <a:latin typeface="Arial"/>
                <a:ea typeface="Arial"/>
                <a:cs typeface="Arial"/>
              </a:rPr>
              <a:t>Podaci o letu</a:t>
            </a:r>
          </a:p>
        </p:txBody>
      </p:sp>
      <p:sp>
        <p:nvSpPr>
          <p:cNvPr id="12" name="text_21">
            <a:extLst xmlns:a="http://schemas.openxmlformats.org/drawingml/2006/main">
              <a:ext uri="{FF2B5EF4-FFF2-40B4-BE49-F238E27FC236}">
                <a16:creationId xmlns:a16="http://schemas.microsoft.com/office/drawing/2014/main" id="{BB444429-890B-48E2-A916-FFBED9F6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149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Kretanje, visina i baterija</a:t>
            </a:r>
          </a:p>
        </p:txBody>
      </p:sp>
    </p:spTree>
    <p:extLst>
      <p:ext uri="{BB962C8B-B14F-4D97-AF65-F5344CB8AC3E}">
        <p14:creationId xmlns:p14="http://schemas.microsoft.com/office/powerpoint/2010/main" val="9513511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_22">
            <a:extLst xmlns:a="http://schemas.openxmlformats.org/drawingml/2006/main">
              <a:ext uri="{FF2B5EF4-FFF2-40B4-BE49-F238E27FC236}">
                <a16:creationId xmlns:a16="http://schemas.microsoft.com/office/drawing/2014/main" id="{C5CC227B-11BC-4E47-817A-70EB1397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Senzori i uređaji</a:t>
            </a:r>
          </a:p>
        </p:txBody>
      </p:sp>
      <p:sp>
        <p:nvSpPr>
          <p:cNvPr id="2" name="text_23">
            <a:extLst xmlns:a="http://schemas.openxmlformats.org/drawingml/2006/main">
              <a:ext uri="{FF2B5EF4-FFF2-40B4-BE49-F238E27FC236}">
                <a16:creationId xmlns:a16="http://schemas.microsoft.com/office/drawing/2014/main" id="{7AB652FC-2064-4934-B744-CEBB7EE9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5f794e498447d"/>
          <a:srcRect xmlns:a="http://schemas.openxmlformats.org/drawingml/2006/main" l="0" t="81" r="0" b="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5657850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text_24">
            <a:extLst xmlns:a="http://schemas.openxmlformats.org/drawingml/2006/main">
              <a:ext uri="{FF2B5EF4-FFF2-40B4-BE49-F238E27FC236}">
                <a16:creationId xmlns:a16="http://schemas.microsoft.com/office/drawing/2014/main" id="{F2F5EB3D-84B3-4F10-B1D3-885E6BF9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6687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Kamere</a:t>
            </a:r>
          </a:p>
        </p:txBody>
      </p:sp>
      <p:sp>
        <p:nvSpPr>
          <p:cNvPr id="5" name="text_25">
            <a:extLst xmlns:a="http://schemas.openxmlformats.org/drawingml/2006/main">
              <a:ext uri="{FF2B5EF4-FFF2-40B4-BE49-F238E27FC236}">
                <a16:creationId xmlns:a16="http://schemas.microsoft.com/office/drawing/2014/main" id="{0789F1BA-0FEC-4DC5-A39D-16A0E8DE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383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Vidljiva i termalna slika</a:t>
            </a:r>
          </a:p>
        </p:txBody>
      </p:sp>
      <p:sp>
        <p:nvSpPr>
          <p:cNvPr id="6" name="text_26">
            <a:extLst xmlns:a="http://schemas.openxmlformats.org/drawingml/2006/main">
              <a:ext uri="{FF2B5EF4-FFF2-40B4-BE49-F238E27FC236}">
                <a16:creationId xmlns:a16="http://schemas.microsoft.com/office/drawing/2014/main" id="{D0F764D4-3A08-4C0D-91D5-822BFDD4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33650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GPS prijemnik</a:t>
            </a:r>
          </a:p>
        </p:txBody>
      </p:sp>
      <p:sp>
        <p:nvSpPr>
          <p:cNvPr id="7" name="text_27">
            <a:extLst xmlns:a="http://schemas.openxmlformats.org/drawingml/2006/main">
              <a:ext uri="{FF2B5EF4-FFF2-40B4-BE49-F238E27FC236}">
                <a16:creationId xmlns:a16="http://schemas.microsoft.com/office/drawing/2014/main" id="{788229AF-3386-4DFB-A3E9-15FBAE07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9051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Položaj u prostoru</a:t>
            </a:r>
          </a:p>
        </p:txBody>
      </p:sp>
      <p:sp>
        <p:nvSpPr>
          <p:cNvPr id="8" name="text_28">
            <a:extLst xmlns:a="http://schemas.openxmlformats.org/drawingml/2006/main">
              <a:ext uri="{FF2B5EF4-FFF2-40B4-BE49-F238E27FC236}">
                <a16:creationId xmlns:a16="http://schemas.microsoft.com/office/drawing/2014/main" id="{C17E638C-4C08-49E0-B738-4DAAE6E9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40042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IMU</a:t>
            </a:r>
          </a:p>
        </p:txBody>
      </p:sp>
      <p:sp>
        <p:nvSpPr>
          <p:cNvPr id="9" name="text_29">
            <a:extLst xmlns:a="http://schemas.openxmlformats.org/drawingml/2006/main">
              <a:ext uri="{FF2B5EF4-FFF2-40B4-BE49-F238E27FC236}">
                <a16:creationId xmlns:a16="http://schemas.microsoft.com/office/drawing/2014/main" id="{9CEE338E-64F1-493C-B2AB-C13CD292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719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Žiroskop i akcelerometar</a:t>
            </a:r>
          </a:p>
        </p:txBody>
      </p:sp>
      <p:sp>
        <p:nvSpPr>
          <p:cNvPr id="10" name="text_30">
            <a:extLst xmlns:a="http://schemas.openxmlformats.org/drawingml/2006/main">
              <a:ext uri="{FF2B5EF4-FFF2-40B4-BE49-F238E27FC236}">
                <a16:creationId xmlns:a16="http://schemas.microsoft.com/office/drawing/2014/main" id="{8B061E2B-281B-4329-BE23-8CF9C584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67200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Kontroler leta</a:t>
            </a:r>
          </a:p>
        </p:txBody>
      </p:sp>
      <p:sp>
        <p:nvSpPr>
          <p:cNvPr id="11" name="text_31">
            <a:extLst xmlns:a="http://schemas.openxmlformats.org/drawingml/2006/main">
              <a:ext uri="{FF2B5EF4-FFF2-40B4-BE49-F238E27FC236}">
                <a16:creationId xmlns:a16="http://schemas.microsoft.com/office/drawing/2014/main" id="{66661126-1686-4956-BB89-CEB0AF03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6386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Stabilizacija drona</a:t>
            </a:r>
          </a:p>
        </p:txBody>
      </p:sp>
      <p:sp>
        <p:nvSpPr>
          <p:cNvPr id="12" name="text_32">
            <a:extLst xmlns:a="http://schemas.openxmlformats.org/drawingml/2006/main">
              <a:ext uri="{FF2B5EF4-FFF2-40B4-BE49-F238E27FC236}">
                <a16:creationId xmlns:a16="http://schemas.microsoft.com/office/drawing/2014/main" id="{EDC1276E-AE83-4069-97EE-ADEE21E7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13397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Računar za AI</a:t>
            </a:r>
          </a:p>
        </p:txBody>
      </p:sp>
      <p:sp>
        <p:nvSpPr>
          <p:cNvPr id="13" name="text_33">
            <a:extLst xmlns:a="http://schemas.openxmlformats.org/drawingml/2006/main">
              <a:ext uri="{FF2B5EF4-FFF2-40B4-BE49-F238E27FC236}">
                <a16:creationId xmlns:a16="http://schemas.microsoft.com/office/drawing/2014/main" id="{E2C29ABE-EFBF-4A81-9A5C-634764CF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5054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Obrada slike i detekcija</a:t>
            </a:r>
          </a:p>
        </p:txBody>
      </p:sp>
    </p:spTree>
    <p:extLst>
      <p:ext uri="{BB962C8B-B14F-4D97-AF65-F5344CB8AC3E}">
        <p14:creationId xmlns:p14="http://schemas.microsoft.com/office/powerpoint/2010/main" val="5143282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_34">
            <a:extLst xmlns:a="http://schemas.openxmlformats.org/drawingml/2006/main">
              <a:ext uri="{FF2B5EF4-FFF2-40B4-BE49-F238E27FC236}">
                <a16:creationId xmlns:a16="http://schemas.microsoft.com/office/drawing/2014/main" id="{A452433B-0151-4310-B3F9-0C383901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AI prepoznaje objekte na snimku</a:t>
            </a:r>
          </a:p>
        </p:txBody>
      </p:sp>
      <p:sp>
        <p:nvSpPr>
          <p:cNvPr id="2" name="text_35">
            <a:extLst xmlns:a="http://schemas.openxmlformats.org/drawingml/2006/main">
              <a:ext uri="{FF2B5EF4-FFF2-40B4-BE49-F238E27FC236}">
                <a16:creationId xmlns:a16="http://schemas.microsoft.com/office/drawing/2014/main" id="{19954F06-B66E-4C5C-BF86-68915AAC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cec327fa84d8a"/>
          <a:stretch xmlns:a="http://schemas.openxmlformats.org/drawingml/2006/main"/>
        </p:blipFill>
        <p:spPr>
          <a:xfrm xmlns:a="http://schemas.openxmlformats.org/drawingml/2006/main">
            <a:off x="610265" y="1704975"/>
            <a:ext cx="7485321" cy="4191000"/>
          </a:xfrm>
          <a:prstGeom xmlns:a="http://schemas.openxmlformats.org/drawingml/2006/main" prst="rect">
            <a:avLst/>
          </a:prstGeom>
        </p:spPr>
      </p:pic>
      <p:sp>
        <p:nvSpPr>
          <p:cNvPr id="4" name="text_36">
            <a:extLst xmlns:a="http://schemas.openxmlformats.org/drawingml/2006/main">
              <a:ext uri="{FF2B5EF4-FFF2-40B4-BE49-F238E27FC236}">
                <a16:creationId xmlns:a16="http://schemas.microsoft.com/office/drawing/2014/main" id="{8CFADF79-2734-40F8-A32D-ADA9D925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Označeni objekti iz skupa VisDrone</a:t>
            </a:r>
          </a:p>
        </p:txBody>
      </p:sp>
      <p:sp>
        <p:nvSpPr>
          <p:cNvPr id="5" name="text_37">
            <a:extLst xmlns:a="http://schemas.openxmlformats.org/drawingml/2006/main">
              <a:ext uri="{FF2B5EF4-FFF2-40B4-BE49-F238E27FC236}">
                <a16:creationId xmlns:a16="http://schemas.microsoft.com/office/drawing/2014/main" id="{D81B821A-B902-4459-B46B-D49F11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B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B29"/>
                </a:solidFill>
                <a:latin typeface="Arial"/>
                <a:ea typeface="Arial"/>
                <a:cs typeface="Arial"/>
              </a:rPr>
              <a:t>Učenje iz primera</a:t>
            </a:r>
          </a:p>
        </p:txBody>
      </p:sp>
      <p:sp>
        <p:nvSpPr>
          <p:cNvPr id="6" name="text_38">
            <a:extLst xmlns:a="http://schemas.openxmlformats.org/drawingml/2006/main">
              <a:ext uri="{FF2B5EF4-FFF2-40B4-BE49-F238E27FC236}">
                <a16:creationId xmlns:a16="http://schemas.microsoft.com/office/drawing/2014/main" id="{2B40FC0B-1C5E-443C-AFB3-611980FE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Slike sa oznakama objekata</a:t>
            </a:r>
          </a:p>
        </p:txBody>
      </p:sp>
      <p:sp>
        <p:nvSpPr>
          <p:cNvPr id="7" name="text_39">
            <a:extLst xmlns:a="http://schemas.openxmlformats.org/drawingml/2006/main">
              <a:ext uri="{FF2B5EF4-FFF2-40B4-BE49-F238E27FC236}">
                <a16:creationId xmlns:a16="http://schemas.microsoft.com/office/drawing/2014/main" id="{22E7F38B-BE17-4FD0-8C83-FD258B36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432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B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B29"/>
                </a:solidFill>
                <a:latin typeface="Arial"/>
                <a:ea typeface="Arial"/>
                <a:cs typeface="Arial"/>
              </a:rPr>
              <a:t>Prepoznavanje</a:t>
            </a:r>
          </a:p>
        </p:txBody>
      </p:sp>
      <p:sp>
        <p:nvSpPr>
          <p:cNvPr id="8" name="text_40">
            <a:extLst xmlns:a="http://schemas.openxmlformats.org/drawingml/2006/main">
              <a:ext uri="{FF2B5EF4-FFF2-40B4-BE49-F238E27FC236}">
                <a16:creationId xmlns:a16="http://schemas.microsoft.com/office/drawing/2014/main" id="{7C2CA3C8-1B79-4E2C-A52C-AA74F319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Osoba, vozilo ili drugi objekat</a:t>
            </a:r>
          </a:p>
        </p:txBody>
      </p:sp>
      <p:sp>
        <p:nvSpPr>
          <p:cNvPr id="9" name="text_41">
            <a:extLst xmlns:a="http://schemas.openxmlformats.org/drawingml/2006/main">
              <a:ext uri="{FF2B5EF4-FFF2-40B4-BE49-F238E27FC236}">
                <a16:creationId xmlns:a16="http://schemas.microsoft.com/office/drawing/2014/main" id="{C632F35F-E09F-4BD9-904C-59E89AA7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529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B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B29"/>
                </a:solidFill>
                <a:latin typeface="Arial"/>
                <a:ea typeface="Arial"/>
                <a:cs typeface="Arial"/>
              </a:rPr>
              <a:t>Položaj na slici</a:t>
            </a:r>
          </a:p>
        </p:txBody>
      </p:sp>
      <p:sp>
        <p:nvSpPr>
          <p:cNvPr id="10" name="text_42">
            <a:extLst xmlns:a="http://schemas.openxmlformats.org/drawingml/2006/main">
              <a:ext uri="{FF2B5EF4-FFF2-40B4-BE49-F238E27FC236}">
                <a16:creationId xmlns:a16="http://schemas.microsoft.com/office/drawing/2014/main" id="{220B68B4-8C5E-4B10-BCDA-F3CAA667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43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Okvir oko uočenog objekta</a:t>
            </a:r>
          </a:p>
        </p:txBody>
      </p:sp>
    </p:spTree>
    <p:extLst>
      <p:ext uri="{BB962C8B-B14F-4D97-AF65-F5344CB8AC3E}">
        <p14:creationId xmlns:p14="http://schemas.microsoft.com/office/powerpoint/2010/main" val="16139506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D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_43">
            <a:extLst xmlns:a="http://schemas.openxmlformats.org/drawingml/2006/main">
              <a:ext uri="{FF2B5EF4-FFF2-40B4-BE49-F238E27FC236}">
                <a16:creationId xmlns:a16="http://schemas.microsoft.com/office/drawing/2014/main" id="{3CA110AA-8EF3-464C-8FD6-49CD1358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Kako radi YOLOv8?</a:t>
            </a:r>
          </a:p>
        </p:txBody>
      </p:sp>
      <p:sp>
        <p:nvSpPr>
          <p:cNvPr id="2" name="text_44">
            <a:extLst xmlns:a="http://schemas.openxmlformats.org/drawingml/2006/main">
              <a:ext uri="{FF2B5EF4-FFF2-40B4-BE49-F238E27FC236}">
                <a16:creationId xmlns:a16="http://schemas.microsoft.com/office/drawing/2014/main" id="{F79B31D2-4D85-45B4-80C7-B496B6EA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9C9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9B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_45">
            <a:extLst xmlns:a="http://schemas.openxmlformats.org/drawingml/2006/main">
              <a:ext uri="{FF2B5EF4-FFF2-40B4-BE49-F238E27FC236}">
                <a16:creationId xmlns:a16="http://schemas.microsoft.com/office/drawing/2014/main" id="{C31C5003-A9B0-42C1-969A-8AE91E94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2DED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2DED6"/>
                </a:solidFill>
                <a:latin typeface="Arial"/>
                <a:ea typeface="Arial"/>
                <a:cs typeface="Arial"/>
              </a:rPr>
              <a:t>You Only Look Once: ceo kadar u jednom prolazu kroz mrežu</a:t>
            </a:r>
          </a:p>
        </p:txBody>
      </p:sp>
      <p:sp>
        <p:nvSpPr>
          <p:cNvPr id="4" name="text_46">
            <a:extLst xmlns:a="http://schemas.openxmlformats.org/drawingml/2006/main">
              <a:ext uri="{FF2B5EF4-FFF2-40B4-BE49-F238E27FC236}">
                <a16:creationId xmlns:a16="http://schemas.microsoft.com/office/drawing/2014/main" id="{065DC855-91FD-47E2-89C3-652BB3B1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8BB8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BB8D"/>
                </a:solidFill>
                <a:latin typeface="Arial"/>
                <a:ea typeface="Arial"/>
                <a:cs typeface="Arial"/>
              </a:rPr>
              <a:t>Obučavanje: označene slike, greška i podešavanje težina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471B6-4992-4BF0-9453-C50AB2E1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981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43"/>
          </a:solidFill>
          <a:ln xmlns:a="http://schemas.openxmlformats.org/drawingml/2006/main" w="11430">
            <a:solidFill>
              <a:srgbClr val="789B88"/>
            </a:solidFill>
            <a:prstDash val="solid"/>
          </a:ln>
        </p:spPr>
      </p:sp>
      <p:sp>
        <p:nvSpPr>
          <p:cNvPr id="6" name="text_47">
            <a:extLst xmlns:a="http://schemas.openxmlformats.org/drawingml/2006/main">
              <a:ext uri="{FF2B5EF4-FFF2-40B4-BE49-F238E27FC236}">
                <a16:creationId xmlns:a16="http://schemas.microsoft.com/office/drawing/2014/main" id="{03401C73-B43C-4CD8-9284-A99937F3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752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Kadar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1C23A-2D56-4FB9-AB32-8393FE28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14675"/>
            <a:ext cx="1981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43"/>
          </a:solidFill>
          <a:ln xmlns:a="http://schemas.openxmlformats.org/drawingml/2006/main" w="11430">
            <a:solidFill>
              <a:srgbClr val="789B88"/>
            </a:solidFill>
            <a:prstDash val="solid"/>
          </a:ln>
        </p:spPr>
      </p:sp>
      <p:sp>
        <p:nvSpPr>
          <p:cNvPr id="8" name="text_48">
            <a:extLst xmlns:a="http://schemas.openxmlformats.org/drawingml/2006/main">
              <a:ext uri="{FF2B5EF4-FFF2-40B4-BE49-F238E27FC236}">
                <a16:creationId xmlns:a16="http://schemas.microsoft.com/office/drawing/2014/main" id="{EAD4C823-CD80-4FD6-9811-FB84ADDB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86125"/>
            <a:ext cx="1752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Osobine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slike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9112B-C584-4780-8444-059A56AC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14675"/>
            <a:ext cx="1981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43"/>
          </a:solidFill>
          <a:ln xmlns:a="http://schemas.openxmlformats.org/drawingml/2006/main" w="11430">
            <a:solidFill>
              <a:srgbClr val="789B88"/>
            </a:solidFill>
            <a:prstDash val="solid"/>
          </a:ln>
        </p:spPr>
      </p:sp>
      <p:sp>
        <p:nvSpPr>
          <p:cNvPr id="10" name="text_49">
            <a:extLst xmlns:a="http://schemas.openxmlformats.org/drawingml/2006/main">
              <a:ext uri="{FF2B5EF4-FFF2-40B4-BE49-F238E27FC236}">
                <a16:creationId xmlns:a16="http://schemas.microsoft.com/office/drawing/2014/main" id="{0A53F1CB-3EC9-437A-A1DC-E1F1F8A2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86125"/>
            <a:ext cx="1752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Predviđanja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62F1D-FCF8-42FB-BE4B-CC101362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14675"/>
            <a:ext cx="1981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43"/>
          </a:solidFill>
          <a:ln xmlns:a="http://schemas.openxmlformats.org/drawingml/2006/main" w="11430">
            <a:solidFill>
              <a:srgbClr val="789B88"/>
            </a:solidFill>
            <a:prstDash val="solid"/>
          </a:ln>
        </p:spPr>
      </p:sp>
      <p:sp>
        <p:nvSpPr>
          <p:cNvPr id="12" name="text_50">
            <a:extLst xmlns:a="http://schemas.openxmlformats.org/drawingml/2006/main">
              <a:ext uri="{FF2B5EF4-FFF2-40B4-BE49-F238E27FC236}">
                <a16:creationId xmlns:a16="http://schemas.microsoft.com/office/drawing/2014/main" id="{D46AB359-5EA5-4679-87A5-65E9B7A8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86125"/>
            <a:ext cx="1752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Filtriranje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AF1BE-9BD9-4715-B815-7AE3A832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14675"/>
            <a:ext cx="1981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43"/>
          </a:solidFill>
          <a:ln xmlns:a="http://schemas.openxmlformats.org/drawingml/2006/main" w="11430">
            <a:solidFill>
              <a:srgbClr val="789B88"/>
            </a:solidFill>
            <a:prstDash val="solid"/>
          </a:ln>
        </p:spPr>
      </p:sp>
      <p:sp>
        <p:nvSpPr>
          <p:cNvPr id="14" name="text_51">
            <a:extLst xmlns:a="http://schemas.openxmlformats.org/drawingml/2006/main">
              <a:ext uri="{FF2B5EF4-FFF2-40B4-BE49-F238E27FC236}">
                <a16:creationId xmlns:a16="http://schemas.microsoft.com/office/drawing/2014/main" id="{1AC547FD-E64A-42AB-81DD-8EB930CF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86125"/>
            <a:ext cx="1752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Rezultat</a:t>
            </a:r>
          </a:p>
        </p:txBody>
      </p: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90800" y="3638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E9AC79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38700" y="3638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E9AC79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086600" y="3638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E9AC79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334500" y="3638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E9AC79"/>
            </a:solidFill>
            <a:prstDash val="solid"/>
            <a:tailEnd type="triangle" w="sm" len="sm"/>
          </a:ln>
        </p:spPr>
      </p:cxnSp>
      <p:sp>
        <p:nvSpPr>
          <p:cNvPr id="19" name="text_52">
            <a:extLst xmlns:a="http://schemas.openxmlformats.org/drawingml/2006/main">
              <a:ext uri="{FF2B5EF4-FFF2-40B4-BE49-F238E27FC236}">
                <a16:creationId xmlns:a16="http://schemas.microsoft.com/office/drawing/2014/main" id="{E75D8A90-80F8-4180-970D-BA03676B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2DED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DED6"/>
                </a:solidFill>
                <a:latin typeface="Arial"/>
                <a:ea typeface="Arial"/>
                <a:cs typeface="Arial"/>
              </a:rPr>
              <a:t>Slika iz</a:t>
            </a:r>
          </a:p>
          <a:p xmlns:a="http://schemas.openxmlformats.org/drawingml/2006/main">
            <a:pPr algn="ctr">
              <a:defRPr sz="1800" b="0">
                <a:solidFill>
                  <a:srgbClr val="D2DED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DED6"/>
                </a:solidFill>
                <a:latin typeface="Arial"/>
                <a:ea typeface="Arial"/>
                <a:cs typeface="Arial"/>
              </a:rPr>
              <a:t>video-snimka</a:t>
            </a:r>
          </a:p>
        </p:txBody>
      </p:sp>
      <p:sp>
        <p:nvSpPr>
          <p:cNvPr id="20" name="text_53">
            <a:extLst xmlns:a="http://schemas.openxmlformats.org/drawingml/2006/main">
              <a:ext uri="{FF2B5EF4-FFF2-40B4-BE49-F238E27FC236}">
                <a16:creationId xmlns:a16="http://schemas.microsoft.com/office/drawing/2014/main" id="{AB7F9CEE-A6A9-44F6-AD56-9AF9D648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10075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2DED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DED6"/>
                </a:solidFill>
                <a:latin typeface="Arial"/>
                <a:ea typeface="Arial"/>
                <a:cs typeface="Arial"/>
              </a:rPr>
              <a:t>Backbone</a:t>
            </a:r>
          </a:p>
          <a:p xmlns:a="http://schemas.openxmlformats.org/drawingml/2006/main">
            <a:pPr algn="ctr">
              <a:defRPr sz="1800" b="0">
                <a:solidFill>
                  <a:srgbClr val="D2DED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DED6"/>
                </a:solidFill>
                <a:latin typeface="Arial"/>
                <a:ea typeface="Arial"/>
                <a:cs typeface="Arial"/>
              </a:rPr>
              <a:t>i Neck</a:t>
            </a:r>
          </a:p>
        </p:txBody>
      </p:sp>
      <p:sp>
        <p:nvSpPr>
          <p:cNvPr id="21" name="text_54">
            <a:extLst xmlns:a="http://schemas.openxmlformats.org/drawingml/2006/main">
              <a:ext uri="{FF2B5EF4-FFF2-40B4-BE49-F238E27FC236}">
                <a16:creationId xmlns:a16="http://schemas.microsoft.com/office/drawing/2014/main" id="{C75589A8-4CDC-407F-9436-44E1DE6B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10075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2DED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DED6"/>
                </a:solidFill>
                <a:latin typeface="Arial"/>
                <a:ea typeface="Arial"/>
                <a:cs typeface="Arial"/>
              </a:rPr>
              <a:t>Head: klasa</a:t>
            </a:r>
          </a:p>
          <a:p xmlns:a="http://schemas.openxmlformats.org/drawingml/2006/main">
            <a:pPr algn="ctr">
              <a:defRPr sz="1800" b="0">
                <a:solidFill>
                  <a:srgbClr val="D2DED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DED6"/>
                </a:solidFill>
                <a:latin typeface="Arial"/>
                <a:ea typeface="Arial"/>
                <a:cs typeface="Arial"/>
              </a:rPr>
              <a:t>i okvir</a:t>
            </a:r>
          </a:p>
        </p:txBody>
      </p:sp>
      <p:sp>
        <p:nvSpPr>
          <p:cNvPr id="22" name="text_55">
            <a:extLst xmlns:a="http://schemas.openxmlformats.org/drawingml/2006/main">
              <a:ext uri="{FF2B5EF4-FFF2-40B4-BE49-F238E27FC236}">
                <a16:creationId xmlns:a16="http://schemas.microsoft.com/office/drawing/2014/main" id="{902BF856-0FEE-4AD1-A48A-5F4310CD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0075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2DED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DED6"/>
                </a:solidFill>
                <a:latin typeface="Arial"/>
                <a:ea typeface="Arial"/>
                <a:cs typeface="Arial"/>
              </a:rPr>
              <a:t>Prag ocene</a:t>
            </a:r>
          </a:p>
          <a:p xmlns:a="http://schemas.openxmlformats.org/drawingml/2006/main">
            <a:pPr algn="ctr">
              <a:defRPr sz="1800" b="0">
                <a:solidFill>
                  <a:srgbClr val="D2DED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DED6"/>
                </a:solidFill>
                <a:latin typeface="Arial"/>
                <a:ea typeface="Arial"/>
                <a:cs typeface="Arial"/>
              </a:rPr>
              <a:t>i NMS</a:t>
            </a:r>
          </a:p>
        </p:txBody>
      </p:sp>
      <p:sp>
        <p:nvSpPr>
          <p:cNvPr id="23" name="text_56">
            <a:extLst xmlns:a="http://schemas.openxmlformats.org/drawingml/2006/main">
              <a:ext uri="{FF2B5EF4-FFF2-40B4-BE49-F238E27FC236}">
                <a16:creationId xmlns:a16="http://schemas.microsoft.com/office/drawing/2014/main" id="{767111AF-6E68-47BD-9909-9A8267FC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10075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2DED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DED6"/>
                </a:solidFill>
                <a:latin typeface="Arial"/>
                <a:ea typeface="Arial"/>
                <a:cs typeface="Arial"/>
              </a:rPr>
              <a:t>Klasa, okvir</a:t>
            </a:r>
          </a:p>
          <a:p xmlns:a="http://schemas.openxmlformats.org/drawingml/2006/main">
            <a:pPr algn="ctr">
              <a:defRPr sz="1800" b="0">
                <a:solidFill>
                  <a:srgbClr val="D2DED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DED6"/>
                </a:solidFill>
                <a:latin typeface="Arial"/>
                <a:ea typeface="Arial"/>
                <a:cs typeface="Arial"/>
              </a:rPr>
              <a:t>i pouzdanost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581CA-2D79-48BD-BDD9-D5460E56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27469"/>
            </a:solidFill>
            <a:prstDash val="solid"/>
          </a:ln>
        </p:spPr>
      </p:sp>
      <p:sp>
        <p:nvSpPr>
          <p:cNvPr id="25" name="text_57">
            <a:extLst xmlns:a="http://schemas.openxmlformats.org/drawingml/2006/main">
              <a:ext uri="{FF2B5EF4-FFF2-40B4-BE49-F238E27FC236}">
                <a16:creationId xmlns:a16="http://schemas.microsoft.com/office/drawing/2014/main" id="{2805006E-880F-4A9D-B3E2-39E151E1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NMS uklanja suvišne okvire oko istog objekta.</a:t>
            </a:r>
          </a:p>
        </p:txBody>
      </p:sp>
    </p:spTree>
    <p:extLst>
      <p:ext uri="{BB962C8B-B14F-4D97-AF65-F5344CB8AC3E}">
        <p14:creationId xmlns:p14="http://schemas.microsoft.com/office/powerpoint/2010/main" val="960741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_58">
            <a:extLst xmlns:a="http://schemas.openxmlformats.org/drawingml/2006/main">
              <a:ext uri="{FF2B5EF4-FFF2-40B4-BE49-F238E27FC236}">
                <a16:creationId xmlns:a16="http://schemas.microsoft.com/office/drawing/2014/main" id="{D4FE0CD7-47C2-488E-A93A-1C8F668A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Kako nastaje upozorenje?</a:t>
            </a:r>
          </a:p>
        </p:txBody>
      </p:sp>
      <p:sp>
        <p:nvSpPr>
          <p:cNvPr id="2" name="text_59">
            <a:extLst xmlns:a="http://schemas.openxmlformats.org/drawingml/2006/main">
              <a:ext uri="{FF2B5EF4-FFF2-40B4-BE49-F238E27FC236}">
                <a16:creationId xmlns:a16="http://schemas.microsoft.com/office/drawing/2014/main" id="{5068797A-C45B-4A8C-8D7F-A581AD45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_60">
            <a:extLst xmlns:a="http://schemas.openxmlformats.org/drawingml/2006/main">
              <a:ext uri="{FF2B5EF4-FFF2-40B4-BE49-F238E27FC236}">
                <a16:creationId xmlns:a16="http://schemas.microsoft.com/office/drawing/2014/main" id="{4220A24D-8033-470B-9896-8EB414F4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9663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C966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_61">
            <a:extLst xmlns:a="http://schemas.openxmlformats.org/drawingml/2006/main">
              <a:ext uri="{FF2B5EF4-FFF2-40B4-BE49-F238E27FC236}">
                <a16:creationId xmlns:a16="http://schemas.microsoft.com/office/drawing/2014/main" id="{74763593-ABB8-4CAC-A6D0-14801E94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447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AI detekcija</a:t>
            </a:r>
          </a:p>
        </p:txBody>
      </p:sp>
      <p:sp>
        <p:nvSpPr>
          <p:cNvPr id="5" name="text_62">
            <a:extLst xmlns:a="http://schemas.openxmlformats.org/drawingml/2006/main">
              <a:ext uri="{FF2B5EF4-FFF2-40B4-BE49-F238E27FC236}">
                <a16:creationId xmlns:a16="http://schemas.microsoft.com/office/drawing/2014/main" id="{0B808103-A601-4F41-BDDA-7D4EB14E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Moguća osoba</a:t>
            </a:r>
          </a:p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u kadru</a:t>
            </a:r>
          </a:p>
        </p:txBody>
      </p:sp>
      <p:sp>
        <p:nvSpPr>
          <p:cNvPr id="6" name="text_63">
            <a:extLst xmlns:a="http://schemas.openxmlformats.org/drawingml/2006/main">
              <a:ext uri="{FF2B5EF4-FFF2-40B4-BE49-F238E27FC236}">
                <a16:creationId xmlns:a16="http://schemas.microsoft.com/office/drawing/2014/main" id="{050A8ECA-A5CD-48B5-B8D8-22915CC9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764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9663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C966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_64">
            <a:extLst xmlns:a="http://schemas.openxmlformats.org/drawingml/2006/main">
              <a:ext uri="{FF2B5EF4-FFF2-40B4-BE49-F238E27FC236}">
                <a16:creationId xmlns:a16="http://schemas.microsoft.com/office/drawing/2014/main" id="{3AEBBB94-7B70-417D-A7EF-2E5CEFCA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52750"/>
            <a:ext cx="2447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Provera uslova</a:t>
            </a:r>
          </a:p>
        </p:txBody>
      </p:sp>
      <p:sp>
        <p:nvSpPr>
          <p:cNvPr id="8" name="text_65">
            <a:extLst xmlns:a="http://schemas.openxmlformats.org/drawingml/2006/main">
              <a:ext uri="{FF2B5EF4-FFF2-40B4-BE49-F238E27FC236}">
                <a16:creationId xmlns:a16="http://schemas.microsoft.com/office/drawing/2014/main" id="{2C25AAC7-13EE-4314-9BBB-55EC5F40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290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Ocena i ponavljanje</a:t>
            </a:r>
          </a:p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u više kadrova</a:t>
            </a:r>
          </a:p>
        </p:txBody>
      </p:sp>
      <p:sp>
        <p:nvSpPr>
          <p:cNvPr id="9" name="text_66">
            <a:extLst xmlns:a="http://schemas.openxmlformats.org/drawingml/2006/main">
              <a:ext uri="{FF2B5EF4-FFF2-40B4-BE49-F238E27FC236}">
                <a16:creationId xmlns:a16="http://schemas.microsoft.com/office/drawing/2014/main" id="{204A051F-F6E2-4ADB-8696-451ABEFA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9663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C966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_67">
            <a:extLst xmlns:a="http://schemas.openxmlformats.org/drawingml/2006/main">
              <a:ext uri="{FF2B5EF4-FFF2-40B4-BE49-F238E27FC236}">
                <a16:creationId xmlns:a16="http://schemas.microsoft.com/office/drawing/2014/main" id="{0F99F6E2-0183-43DE-B118-F38A891B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2447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Upozorenje</a:t>
            </a:r>
          </a:p>
        </p:txBody>
      </p:sp>
      <p:sp>
        <p:nvSpPr>
          <p:cNvPr id="11" name="text_68">
            <a:extLst xmlns:a="http://schemas.openxmlformats.org/drawingml/2006/main">
              <a:ext uri="{FF2B5EF4-FFF2-40B4-BE49-F238E27FC236}">
                <a16:creationId xmlns:a16="http://schemas.microsoft.com/office/drawing/2014/main" id="{FAFB97D1-B806-4B51-8FBD-9130E139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Označen snimak</a:t>
            </a:r>
          </a:p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za operatera</a:t>
            </a:r>
          </a:p>
        </p:txBody>
      </p:sp>
      <p:sp>
        <p:nvSpPr>
          <p:cNvPr id="12" name="text_69">
            <a:extLst xmlns:a="http://schemas.openxmlformats.org/drawingml/2006/main">
              <a:ext uri="{FF2B5EF4-FFF2-40B4-BE49-F238E27FC236}">
                <a16:creationId xmlns:a16="http://schemas.microsoft.com/office/drawing/2014/main" id="{A10861A8-5BD2-4732-8EC3-D9E3D75F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C9663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C966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text_70">
            <a:extLst xmlns:a="http://schemas.openxmlformats.org/drawingml/2006/main">
              <a:ext uri="{FF2B5EF4-FFF2-40B4-BE49-F238E27FC236}">
                <a16:creationId xmlns:a16="http://schemas.microsoft.com/office/drawing/2014/main" id="{34DC0DB6-8897-4333-A5D6-2E0868A2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52750"/>
            <a:ext cx="2447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Čovek proverava</a:t>
            </a:r>
          </a:p>
        </p:txBody>
      </p:sp>
      <p:sp>
        <p:nvSpPr>
          <p:cNvPr id="14" name="text_71">
            <a:extLst xmlns:a="http://schemas.openxmlformats.org/drawingml/2006/main">
              <a:ext uri="{FF2B5EF4-FFF2-40B4-BE49-F238E27FC236}">
                <a16:creationId xmlns:a16="http://schemas.microsoft.com/office/drawing/2014/main" id="{0C69B566-6CC7-41F2-B37C-F8113B2D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290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Potvrda nalaza</a:t>
            </a:r>
          </a:p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i sledeći korak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57525" y="33051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96636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86450" y="33051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96636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15375" y="33051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96636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4A4C5-0567-4BF4-A8A3-F8500FF5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CE5DD"/>
            </a:solidFill>
            <a:prstDash val="solid"/>
          </a:ln>
        </p:spPr>
      </p:sp>
      <p:sp>
        <p:nvSpPr>
          <p:cNvPr id="19" name="text_72">
            <a:extLst xmlns:a="http://schemas.openxmlformats.org/drawingml/2006/main">
              <a:ext uri="{FF2B5EF4-FFF2-40B4-BE49-F238E27FC236}">
                <a16:creationId xmlns:a16="http://schemas.microsoft.com/office/drawing/2014/main" id="{57247BB7-54B5-49B9-B663-0B102BFA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D36"/>
                </a:solidFill>
                <a:latin typeface="Arial"/>
                <a:ea typeface="Arial"/>
                <a:cs typeface="Arial"/>
              </a:rPr>
              <a:t>Primer pravila: detekcija se ponavlja u više uzastopnih kadrova.</a:t>
            </a:r>
          </a:p>
        </p:txBody>
      </p:sp>
    </p:spTree>
    <p:extLst>
      <p:ext uri="{BB962C8B-B14F-4D97-AF65-F5344CB8AC3E}">
        <p14:creationId xmlns:p14="http://schemas.microsoft.com/office/powerpoint/2010/main" val="1658416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_73">
            <a:extLst xmlns:a="http://schemas.openxmlformats.org/drawingml/2006/main">
              <a:ext uri="{FF2B5EF4-FFF2-40B4-BE49-F238E27FC236}">
                <a16:creationId xmlns:a16="http://schemas.microsoft.com/office/drawing/2014/main" id="{FE13EC90-4BBA-443F-AA5F-5BFDA222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Šta dobija spasilačka ekipa?</a:t>
            </a:r>
          </a:p>
        </p:txBody>
      </p:sp>
      <p:sp>
        <p:nvSpPr>
          <p:cNvPr id="2" name="text_74">
            <a:extLst xmlns:a="http://schemas.openxmlformats.org/drawingml/2006/main">
              <a:ext uri="{FF2B5EF4-FFF2-40B4-BE49-F238E27FC236}">
                <a16:creationId xmlns:a16="http://schemas.microsoft.com/office/drawing/2014/main" id="{F66EE118-2B2E-4C8C-9AC1-06431D39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b7c3bda2b43a3"/>
          <a:srcRect xmlns:a="http://schemas.openxmlformats.org/drawingml/2006/main" l="109" t="0" r="1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6000750" cy="4019550"/>
          </a:xfrm>
          <a:prstGeom xmlns:a="http://schemas.openxmlformats.org/drawingml/2006/main" prst="rect">
            <a:avLst/>
          </a:prstGeom>
        </p:spPr>
      </p:pic>
      <p:sp>
        <p:nvSpPr>
          <p:cNvPr id="4" name="text_75">
            <a:extLst xmlns:a="http://schemas.openxmlformats.org/drawingml/2006/main">
              <a:ext uri="{FF2B5EF4-FFF2-40B4-BE49-F238E27FC236}">
                <a16:creationId xmlns:a16="http://schemas.microsoft.com/office/drawing/2014/main" id="{6D5B4A4C-06D7-4D3D-913E-2EEF0E2C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050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B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B29"/>
                </a:solidFill>
                <a:latin typeface="Arial"/>
                <a:ea typeface="Arial"/>
                <a:cs typeface="Arial"/>
              </a:rPr>
              <a:t>Označen snimak</a:t>
            </a:r>
          </a:p>
        </p:txBody>
      </p:sp>
      <p:sp>
        <p:nvSpPr>
          <p:cNvPr id="5" name="text_76">
            <a:extLst xmlns:a="http://schemas.openxmlformats.org/drawingml/2006/main">
              <a:ext uri="{FF2B5EF4-FFF2-40B4-BE49-F238E27FC236}">
                <a16:creationId xmlns:a16="http://schemas.microsoft.com/office/drawing/2014/main" id="{68D42FD0-51F4-41EA-B4F6-92B50DD4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95525"/>
            <a:ext cx="442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Moguća osoba ili važan trag</a:t>
            </a:r>
          </a:p>
        </p:txBody>
      </p:sp>
      <p:sp>
        <p:nvSpPr>
          <p:cNvPr id="6" name="text_77">
            <a:extLst xmlns:a="http://schemas.openxmlformats.org/drawingml/2006/main">
              <a:ext uri="{FF2B5EF4-FFF2-40B4-BE49-F238E27FC236}">
                <a16:creationId xmlns:a16="http://schemas.microsoft.com/office/drawing/2014/main" id="{19F0CBCF-ABF7-498B-9676-9C6C17C2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85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B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B29"/>
                </a:solidFill>
                <a:latin typeface="Arial"/>
                <a:ea typeface="Arial"/>
                <a:cs typeface="Arial"/>
              </a:rPr>
              <a:t>Procena lokacije</a:t>
            </a:r>
          </a:p>
        </p:txBody>
      </p:sp>
      <p:sp>
        <p:nvSpPr>
          <p:cNvPr id="7" name="text_78">
            <a:extLst xmlns:a="http://schemas.openxmlformats.org/drawingml/2006/main">
              <a:ext uri="{FF2B5EF4-FFF2-40B4-BE49-F238E27FC236}">
                <a16:creationId xmlns:a16="http://schemas.microsoft.com/office/drawing/2014/main" id="{636B4346-A488-4860-B4E6-978BC9A5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29025"/>
            <a:ext cx="442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Podaci za proveru na terenu</a:t>
            </a:r>
          </a:p>
        </p:txBody>
      </p:sp>
      <p:sp>
        <p:nvSpPr>
          <p:cNvPr id="8" name="text_79">
            <a:extLst xmlns:a="http://schemas.openxmlformats.org/drawingml/2006/main">
              <a:ext uri="{FF2B5EF4-FFF2-40B4-BE49-F238E27FC236}">
                <a16:creationId xmlns:a16="http://schemas.microsoft.com/office/drawing/2014/main" id="{1B76C44B-63D9-4141-BE00-CAC9A2BD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B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2B29"/>
                </a:solidFill>
                <a:latin typeface="Arial"/>
                <a:ea typeface="Arial"/>
                <a:cs typeface="Arial"/>
              </a:rPr>
              <a:t>Usmeravanje ekipe</a:t>
            </a:r>
          </a:p>
        </p:txBody>
      </p:sp>
      <p:sp>
        <p:nvSpPr>
          <p:cNvPr id="9" name="text_80">
            <a:extLst xmlns:a="http://schemas.openxmlformats.org/drawingml/2006/main">
              <a:ext uri="{FF2B5EF4-FFF2-40B4-BE49-F238E27FC236}">
                <a16:creationId xmlns:a16="http://schemas.microsoft.com/office/drawing/2014/main" id="{05B653BE-3845-4723-9E04-5BF84612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62525"/>
            <a:ext cx="442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Operater prenosi nalaz spasiocima</a:t>
            </a:r>
          </a:p>
        </p:txBody>
      </p:sp>
    </p:spTree>
    <p:extLst>
      <p:ext uri="{BB962C8B-B14F-4D97-AF65-F5344CB8AC3E}">
        <p14:creationId xmlns:p14="http://schemas.microsoft.com/office/powerpoint/2010/main" val="784531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_81">
            <a:extLst xmlns:a="http://schemas.openxmlformats.org/drawingml/2006/main">
              <a:ext uri="{FF2B5EF4-FFF2-40B4-BE49-F238E27FC236}">
                <a16:creationId xmlns:a16="http://schemas.microsoft.com/office/drawing/2014/main" id="{EDEB431B-AB1B-4633-910F-A7DCE3C0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Elektronika koja održava let</a:t>
            </a:r>
          </a:p>
        </p:txBody>
      </p:sp>
      <p:sp>
        <p:nvSpPr>
          <p:cNvPr id="2" name="text_82">
            <a:extLst xmlns:a="http://schemas.openxmlformats.org/drawingml/2006/main">
              <a:ext uri="{FF2B5EF4-FFF2-40B4-BE49-F238E27FC236}">
                <a16:creationId xmlns:a16="http://schemas.microsoft.com/office/drawing/2014/main" id="{E15CFD14-2939-4ADF-A526-42FFA78F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3b84f6aeb489b"/>
          <a:stretch xmlns:a="http://schemas.openxmlformats.org/drawingml/2006/main"/>
        </p:blipFill>
        <p:spPr>
          <a:xfrm xmlns:a="http://schemas.openxmlformats.org/drawingml/2006/main">
            <a:off x="8832254" y="1504950"/>
            <a:ext cx="2566592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text_83">
            <a:extLst xmlns:a="http://schemas.openxmlformats.org/drawingml/2006/main">
              <a:ext uri="{FF2B5EF4-FFF2-40B4-BE49-F238E27FC236}">
                <a16:creationId xmlns:a16="http://schemas.microsoft.com/office/drawing/2014/main" id="{16BB433E-5A03-4B2B-8C12-E03F6D79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257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Kontroler leta Pixhawk 6C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A2288-55D7-4DBC-B670-9DCB8426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14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2"/>
          </a:solidFill>
          <a:ln xmlns:a="http://schemas.openxmlformats.org/drawingml/2006/main" w="11430">
            <a:solidFill>
              <a:srgbClr val="ADBBB0"/>
            </a:solidFill>
            <a:prstDash val="solid"/>
          </a:ln>
        </p:spPr>
      </p:sp>
      <p:sp>
        <p:nvSpPr>
          <p:cNvPr id="6" name="text_84">
            <a:extLst xmlns:a="http://schemas.openxmlformats.org/drawingml/2006/main">
              <a:ext uri="{FF2B5EF4-FFF2-40B4-BE49-F238E27FC236}">
                <a16:creationId xmlns:a16="http://schemas.microsoft.com/office/drawing/2014/main" id="{79AC3F3B-3A69-42B5-9D0C-ADA6F89D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IMU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3322B-09F8-4452-8111-3FA27CC6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76525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2"/>
          </a:solidFill>
          <a:ln xmlns:a="http://schemas.openxmlformats.org/drawingml/2006/main" w="11430">
            <a:solidFill>
              <a:srgbClr val="ADBBB0"/>
            </a:solidFill>
            <a:prstDash val="solid"/>
          </a:ln>
        </p:spPr>
      </p:sp>
      <p:sp>
        <p:nvSpPr>
          <p:cNvPr id="8" name="text_85">
            <a:extLst xmlns:a="http://schemas.openxmlformats.org/drawingml/2006/main">
              <a:ext uri="{FF2B5EF4-FFF2-40B4-BE49-F238E27FC236}">
                <a16:creationId xmlns:a16="http://schemas.microsoft.com/office/drawing/2014/main" id="{5F0D7AB6-994A-4D94-83EA-8C9C5EBA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47975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Kontroler</a:t>
            </a:r>
          </a:p>
          <a:p xmlns:a="http://schemas.openxmlformats.org/drawingml/2006/main">
            <a:pPr algn="ctr">
              <a:defRPr sz="18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leta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135F5-C74B-4D29-8AC6-DC26B5A6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76525"/>
            <a:ext cx="114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2"/>
          </a:solidFill>
          <a:ln xmlns:a="http://schemas.openxmlformats.org/drawingml/2006/main" w="11430">
            <a:solidFill>
              <a:srgbClr val="ADBBB0"/>
            </a:solidFill>
            <a:prstDash val="solid"/>
          </a:ln>
        </p:spPr>
      </p:sp>
      <p:sp>
        <p:nvSpPr>
          <p:cNvPr id="10" name="text_86">
            <a:extLst xmlns:a="http://schemas.openxmlformats.org/drawingml/2006/main">
              <a:ext uri="{FF2B5EF4-FFF2-40B4-BE49-F238E27FC236}">
                <a16:creationId xmlns:a16="http://schemas.microsoft.com/office/drawing/2014/main" id="{6A0245BB-01E1-48A0-8108-F423E162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47975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ESC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0303A-E416-48FD-9071-5797044C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76525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2"/>
          </a:solidFill>
          <a:ln xmlns:a="http://schemas.openxmlformats.org/drawingml/2006/main" w="11430">
            <a:solidFill>
              <a:srgbClr val="ADBBB0"/>
            </a:solidFill>
            <a:prstDash val="solid"/>
          </a:ln>
        </p:spPr>
      </p:sp>
      <p:sp>
        <p:nvSpPr>
          <p:cNvPr id="12" name="text_87">
            <a:extLst xmlns:a="http://schemas.openxmlformats.org/drawingml/2006/main">
              <a:ext uri="{FF2B5EF4-FFF2-40B4-BE49-F238E27FC236}">
                <a16:creationId xmlns:a16="http://schemas.microsoft.com/office/drawing/2014/main" id="{16B9595C-6AB0-4C3C-9B3C-87AD4DC7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47975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Motori</a:t>
            </a:r>
          </a:p>
        </p:txBody>
      </p: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752600" y="30670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96636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48100" y="30670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96636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372100" y="30670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96636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C3D83-6ADA-4060-AC09-235D7329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43050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2"/>
          </a:solidFill>
          <a:ln xmlns:a="http://schemas.openxmlformats.org/drawingml/2006/main" w="11430">
            <a:solidFill>
              <a:srgbClr val="ADBBB0"/>
            </a:solidFill>
            <a:prstDash val="solid"/>
          </a:ln>
        </p:spPr>
      </p:sp>
      <p:sp>
        <p:nvSpPr>
          <p:cNvPr id="17" name="text_88">
            <a:extLst xmlns:a="http://schemas.openxmlformats.org/drawingml/2006/main">
              <a:ext uri="{FF2B5EF4-FFF2-40B4-BE49-F238E27FC236}">
                <a16:creationId xmlns:a16="http://schemas.microsoft.com/office/drawing/2014/main" id="{FF2C7F85-1865-4FF7-AFE8-40DF6BC6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91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Baterija</a:t>
            </a:r>
          </a:p>
        </p:txBody>
      </p:sp>
      <p:cxnSp>
        <p:nvCxnSpPr>
          <p:cNvPr id="46" name=""/>
          <p:cNvCxnSpPr>
            <a:stCxn xmlns:a="http://schemas.openxmlformats.org/drawingml/2006/main" id="1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800600" y="212407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96636"/>
            </a:solidFill>
            <a:prstDash val="solid"/>
            <a:tailEnd type="triangle" w="sm" len="sm"/>
          </a:ln>
        </p:spPr>
      </p:cxnSp>
      <p:sp>
        <p:nvSpPr>
          <p:cNvPr id="19" name="text_89">
            <a:extLst xmlns:a="http://schemas.openxmlformats.org/drawingml/2006/main">
              <a:ext uri="{FF2B5EF4-FFF2-40B4-BE49-F238E27FC236}">
                <a16:creationId xmlns:a16="http://schemas.microsoft.com/office/drawing/2014/main" id="{5A0044EE-8603-42DB-B6ED-82A71929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Upravljanje i napajanje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720C2-2C68-40A7-BB2F-68203767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2"/>
          </a:solidFill>
          <a:ln xmlns:a="http://schemas.openxmlformats.org/drawingml/2006/main" w="11430">
            <a:solidFill>
              <a:srgbClr val="ADBBB0"/>
            </a:solidFill>
            <a:prstDash val="solid"/>
          </a:ln>
        </p:spPr>
      </p:sp>
      <p:sp>
        <p:nvSpPr>
          <p:cNvPr id="21" name="text_90">
            <a:extLst xmlns:a="http://schemas.openxmlformats.org/drawingml/2006/main">
              <a:ext uri="{FF2B5EF4-FFF2-40B4-BE49-F238E27FC236}">
                <a16:creationId xmlns:a16="http://schemas.microsoft.com/office/drawing/2014/main" id="{6E02D227-4116-45A2-B854-A1C82D4C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Kamera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93D6F-E08E-4A93-AE9B-954B1D71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6245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2"/>
          </a:solidFill>
          <a:ln xmlns:a="http://schemas.openxmlformats.org/drawingml/2006/main" w="11430">
            <a:solidFill>
              <a:srgbClr val="ADBBB0"/>
            </a:solidFill>
            <a:prstDash val="solid"/>
          </a:ln>
        </p:spPr>
      </p:sp>
      <p:sp>
        <p:nvSpPr>
          <p:cNvPr id="23" name="text_91">
            <a:extLst xmlns:a="http://schemas.openxmlformats.org/drawingml/2006/main">
              <a:ext uri="{FF2B5EF4-FFF2-40B4-BE49-F238E27FC236}">
                <a16:creationId xmlns:a16="http://schemas.microsoft.com/office/drawing/2014/main" id="{7B3353C9-B53D-45C1-81E0-3EC9EA57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33900"/>
            <a:ext cx="1724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AI računar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50DFBA-5F4E-4C51-8209-DE9D0D93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362450"/>
            <a:ext cx="22002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2"/>
          </a:solidFill>
          <a:ln xmlns:a="http://schemas.openxmlformats.org/drawingml/2006/main" w="11430">
            <a:solidFill>
              <a:srgbClr val="ADBBB0"/>
            </a:solidFill>
            <a:prstDash val="solid"/>
          </a:ln>
        </p:spPr>
      </p:sp>
      <p:sp>
        <p:nvSpPr>
          <p:cNvPr id="25" name="text_92">
            <a:extLst xmlns:a="http://schemas.openxmlformats.org/drawingml/2006/main">
              <a:ext uri="{FF2B5EF4-FFF2-40B4-BE49-F238E27FC236}">
                <a16:creationId xmlns:a16="http://schemas.microsoft.com/office/drawing/2014/main" id="{C274280C-E87C-45CF-A276-B7B3A786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533900"/>
            <a:ext cx="1971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Detekcija</a:t>
            </a:r>
          </a:p>
        </p:txBody>
      </p:sp>
      <p:cxnSp>
        <p:nvCxnSpPr>
          <p:cNvPr id="54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038350" y="4705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96636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562475" y="4705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96636"/>
            </a:solidFill>
            <a:prstDash val="solid"/>
            <a:tailEnd type="triangle" w="sm" len="sm"/>
          </a:ln>
        </p:spPr>
      </p:cxnSp>
      <p:sp>
        <p:nvSpPr>
          <p:cNvPr id="28" name="text_93">
            <a:extLst xmlns:a="http://schemas.openxmlformats.org/drawingml/2006/main">
              <a:ext uri="{FF2B5EF4-FFF2-40B4-BE49-F238E27FC236}">
                <a16:creationId xmlns:a16="http://schemas.microsoft.com/office/drawing/2014/main" id="{BD94F3D0-5E29-4DDF-81BE-01C6EEFD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47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PID stabilizacija može da radi bez AI.</a:t>
            </a:r>
          </a:p>
        </p:txBody>
      </p:sp>
    </p:spTree>
    <p:extLst>
      <p:ext uri="{BB962C8B-B14F-4D97-AF65-F5344CB8AC3E}">
        <p14:creationId xmlns:p14="http://schemas.microsoft.com/office/powerpoint/2010/main" val="4830404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_94">
            <a:extLst xmlns:a="http://schemas.openxmlformats.org/drawingml/2006/main">
              <a:ext uri="{FF2B5EF4-FFF2-40B4-BE49-F238E27FC236}">
                <a16:creationId xmlns:a16="http://schemas.microsoft.com/office/drawing/2014/main" id="{8B9D12F0-FA68-454E-B88A-26DE08FB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Prednosti ovakvog sistema</a:t>
            </a:r>
          </a:p>
        </p:txBody>
      </p:sp>
      <p:sp>
        <p:nvSpPr>
          <p:cNvPr id="2" name="text_95">
            <a:extLst xmlns:a="http://schemas.openxmlformats.org/drawingml/2006/main">
              <a:ext uri="{FF2B5EF4-FFF2-40B4-BE49-F238E27FC236}">
                <a16:creationId xmlns:a16="http://schemas.microsoft.com/office/drawing/2014/main" id="{3A231F7B-9DC1-4D65-9DB4-88F78DB2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2bde2834f43b3"/>
          <a:srcRect xmlns:a="http://schemas.openxmlformats.org/drawingml/2006/main" l="0" t="7682" r="0" b="7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33525"/>
            <a:ext cx="109728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text_96">
            <a:extLst xmlns:a="http://schemas.openxmlformats.org/drawingml/2006/main">
              <a:ext uri="{FF2B5EF4-FFF2-40B4-BE49-F238E27FC236}">
                <a16:creationId xmlns:a16="http://schemas.microsoft.com/office/drawing/2014/main" id="{0C9F2212-1874-4B1E-A53A-F69B47E4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Širi pregled terena</a:t>
            </a:r>
          </a:p>
        </p:txBody>
      </p:sp>
      <p:sp>
        <p:nvSpPr>
          <p:cNvPr id="5" name="text_97">
            <a:extLst xmlns:a="http://schemas.openxmlformats.org/drawingml/2006/main">
              <a:ext uri="{FF2B5EF4-FFF2-40B4-BE49-F238E27FC236}">
                <a16:creationId xmlns:a16="http://schemas.microsoft.com/office/drawing/2014/main" id="{49D57D23-315A-450A-8497-4DDFDFE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Pogled iz vazduha</a:t>
            </a:r>
          </a:p>
        </p:txBody>
      </p:sp>
      <p:sp>
        <p:nvSpPr>
          <p:cNvPr id="6" name="text_98">
            <a:extLst xmlns:a="http://schemas.openxmlformats.org/drawingml/2006/main">
              <a:ext uri="{FF2B5EF4-FFF2-40B4-BE49-F238E27FC236}">
                <a16:creationId xmlns:a16="http://schemas.microsoft.com/office/drawing/2014/main" id="{9BBECC93-118B-403E-B485-0F6F3072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6735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Pomoć operateru</a:t>
            </a:r>
          </a:p>
        </p:txBody>
      </p:sp>
      <p:sp>
        <p:nvSpPr>
          <p:cNvPr id="7" name="text_99">
            <a:extLst xmlns:a="http://schemas.openxmlformats.org/drawingml/2006/main">
              <a:ext uri="{FF2B5EF4-FFF2-40B4-BE49-F238E27FC236}">
                <a16:creationId xmlns:a16="http://schemas.microsoft.com/office/drawing/2014/main" id="{E4C17458-B032-43D8-A1A3-EF402133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9597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Izdvajanje mogućih tragova</a:t>
            </a:r>
          </a:p>
        </p:txBody>
      </p:sp>
      <p:sp>
        <p:nvSpPr>
          <p:cNvPr id="8" name="text_100">
            <a:extLst xmlns:a="http://schemas.openxmlformats.org/drawingml/2006/main">
              <a:ext uri="{FF2B5EF4-FFF2-40B4-BE49-F238E27FC236}">
                <a16:creationId xmlns:a16="http://schemas.microsoft.com/office/drawing/2014/main" id="{2BCE66D5-862E-43A9-A228-1FCF6BB3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6735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Manje izlaganje riziku</a:t>
            </a:r>
          </a:p>
        </p:txBody>
      </p:sp>
      <p:sp>
        <p:nvSpPr>
          <p:cNvPr id="9" name="text_101">
            <a:extLst xmlns:a="http://schemas.openxmlformats.org/drawingml/2006/main">
              <a:ext uri="{FF2B5EF4-FFF2-40B4-BE49-F238E27FC236}">
                <a16:creationId xmlns:a16="http://schemas.microsoft.com/office/drawing/2014/main" id="{1E791557-9AEA-49BD-8868-30225DAE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89597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Pregled opasnih područja</a:t>
            </a:r>
          </a:p>
        </p:txBody>
      </p:sp>
    </p:spTree>
    <p:extLst>
      <p:ext uri="{BB962C8B-B14F-4D97-AF65-F5344CB8AC3E}">
        <p14:creationId xmlns:p14="http://schemas.microsoft.com/office/powerpoint/2010/main" val="5609341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_102">
            <a:extLst xmlns:a="http://schemas.openxmlformats.org/drawingml/2006/main">
              <a:ext uri="{FF2B5EF4-FFF2-40B4-BE49-F238E27FC236}">
                <a16:creationId xmlns:a16="http://schemas.microsoft.com/office/drawing/2014/main" id="{E18EFD9F-B328-4AF7-81EB-37A67830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Ograničenja i rizici</a:t>
            </a:r>
          </a:p>
        </p:txBody>
      </p:sp>
      <p:sp>
        <p:nvSpPr>
          <p:cNvPr id="2" name="text_103">
            <a:extLst xmlns:a="http://schemas.openxmlformats.org/drawingml/2006/main">
              <a:ext uri="{FF2B5EF4-FFF2-40B4-BE49-F238E27FC236}">
                <a16:creationId xmlns:a16="http://schemas.microsoft.com/office/drawing/2014/main" id="{C4033CD5-8850-47BE-AEAC-640BC3CA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89fba47406f"/>
          <a:srcRect xmlns:a="http://schemas.openxmlformats.org/drawingml/2006/main" l="0" t="128" r="0" b="1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04975"/>
            <a:ext cx="5200650" cy="3467100"/>
          </a:xfrm>
          <a:prstGeom xmlns:a="http://schemas.openxmlformats.org/drawingml/2006/main" prst="rect">
            <a:avLst/>
          </a:prstGeom>
        </p:spPr>
      </p:pic>
      <p:sp>
        <p:nvSpPr>
          <p:cNvPr id="4" name="text_104">
            <a:extLst xmlns:a="http://schemas.openxmlformats.org/drawingml/2006/main">
              <a:ext uri="{FF2B5EF4-FFF2-40B4-BE49-F238E27FC236}">
                <a16:creationId xmlns:a16="http://schemas.microsoft.com/office/drawing/2014/main" id="{C6AD3757-D7E7-4298-804A-09834520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520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Slaba vidljivost otežava detekciju</a:t>
            </a:r>
          </a:p>
        </p:txBody>
      </p:sp>
      <p:sp>
        <p:nvSpPr>
          <p:cNvPr id="5" name="text_105">
            <a:extLst xmlns:a="http://schemas.openxmlformats.org/drawingml/2006/main">
              <a:ext uri="{FF2B5EF4-FFF2-40B4-BE49-F238E27FC236}">
                <a16:creationId xmlns:a16="http://schemas.microsoft.com/office/drawing/2014/main" id="{624F9FA5-CC0D-4449-8FE8-3F762EAD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0497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Greške AI modela</a:t>
            </a:r>
          </a:p>
        </p:txBody>
      </p:sp>
      <p:sp>
        <p:nvSpPr>
          <p:cNvPr id="6" name="text_106">
            <a:extLst xmlns:a="http://schemas.openxmlformats.org/drawingml/2006/main">
              <a:ext uri="{FF2B5EF4-FFF2-40B4-BE49-F238E27FC236}">
                <a16:creationId xmlns:a16="http://schemas.microsoft.com/office/drawing/2014/main" id="{7BCD624F-72E6-41D7-9333-4780FB61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24075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Propuštena osoba ili lažni alarm</a:t>
            </a:r>
          </a:p>
        </p:txBody>
      </p:sp>
      <p:sp>
        <p:nvSpPr>
          <p:cNvPr id="7" name="text_107">
            <a:extLst xmlns:a="http://schemas.openxmlformats.org/drawingml/2006/main">
              <a:ext uri="{FF2B5EF4-FFF2-40B4-BE49-F238E27FC236}">
                <a16:creationId xmlns:a16="http://schemas.microsoft.com/office/drawing/2014/main" id="{EE842647-61B6-4E8F-8CD1-E3075FA8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5272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Kvarovi i uslovi leta</a:t>
            </a:r>
          </a:p>
        </p:txBody>
      </p:sp>
      <p:sp>
        <p:nvSpPr>
          <p:cNvPr id="8" name="text_108">
            <a:extLst xmlns:a="http://schemas.openxmlformats.org/drawingml/2006/main">
              <a:ext uri="{FF2B5EF4-FFF2-40B4-BE49-F238E27FC236}">
                <a16:creationId xmlns:a16="http://schemas.microsoft.com/office/drawing/2014/main" id="{6156252A-6B03-4F63-8B21-EFD2E2A2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71825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Baterija, senzori, veza i vreme</a:t>
            </a:r>
          </a:p>
        </p:txBody>
      </p:sp>
      <p:sp>
        <p:nvSpPr>
          <p:cNvPr id="9" name="text_109">
            <a:extLst xmlns:a="http://schemas.openxmlformats.org/drawingml/2006/main">
              <a:ext uri="{FF2B5EF4-FFF2-40B4-BE49-F238E27FC236}">
                <a16:creationId xmlns:a16="http://schemas.microsoft.com/office/drawing/2014/main" id="{71019C33-1120-43E3-B29D-C7DEEADD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Privatnost i bezbednost</a:t>
            </a:r>
          </a:p>
        </p:txBody>
      </p:sp>
      <p:sp>
        <p:nvSpPr>
          <p:cNvPr id="10" name="text_110">
            <a:extLst xmlns:a="http://schemas.openxmlformats.org/drawingml/2006/main">
              <a:ext uri="{FF2B5EF4-FFF2-40B4-BE49-F238E27FC236}">
                <a16:creationId xmlns:a16="http://schemas.microsoft.com/office/drawing/2014/main" id="{7B5F8988-A849-4CE7-BF42-1B6D6AC1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Zaštita snimaka i komunikacije</a:t>
            </a:r>
          </a:p>
        </p:txBody>
      </p:sp>
      <p:sp>
        <p:nvSpPr>
          <p:cNvPr id="11" name="text_111">
            <a:extLst xmlns:a="http://schemas.openxmlformats.org/drawingml/2006/main">
              <a:ext uri="{FF2B5EF4-FFF2-40B4-BE49-F238E27FC236}">
                <a16:creationId xmlns:a16="http://schemas.microsoft.com/office/drawing/2014/main" id="{AE5A7D39-7BF6-4B04-9B6E-DB5A7FFA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4822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D36"/>
                </a:solidFill>
                <a:latin typeface="Arial"/>
                <a:ea typeface="Arial"/>
                <a:cs typeface="Arial"/>
              </a:rPr>
              <a:t>Cena i odgovornost</a:t>
            </a:r>
          </a:p>
        </p:txBody>
      </p:sp>
      <p:sp>
        <p:nvSpPr>
          <p:cNvPr id="12" name="text_112">
            <a:extLst xmlns:a="http://schemas.openxmlformats.org/drawingml/2006/main">
              <a:ext uri="{FF2B5EF4-FFF2-40B4-BE49-F238E27FC236}">
                <a16:creationId xmlns:a16="http://schemas.microsoft.com/office/drawing/2014/main" id="{3CA03FEE-95D3-40DD-BC3D-8AFB6269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67325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2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26B"/>
                </a:solidFill>
                <a:latin typeface="Arial"/>
                <a:ea typeface="Arial"/>
                <a:cs typeface="Arial"/>
              </a:rPr>
              <a:t>Oprema, održavanje i odluke ljudi</a:t>
            </a:r>
          </a:p>
        </p:txBody>
      </p:sp>
    </p:spTree>
    <p:extLst>
      <p:ext uri="{BB962C8B-B14F-4D97-AF65-F5344CB8AC3E}">
        <p14:creationId xmlns:p14="http://schemas.microsoft.com/office/powerpoint/2010/main" val="14653777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3D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_113">
            <a:extLst xmlns:a="http://schemas.openxmlformats.org/drawingml/2006/main">
              <a:ext uri="{FF2B5EF4-FFF2-40B4-BE49-F238E27FC236}">
                <a16:creationId xmlns:a16="http://schemas.microsoft.com/office/drawing/2014/main" id="{FCB3F7B3-0388-4F36-97AA-836BB348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Gde je ovde AI,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šta može i bez AI?</a:t>
            </a:r>
          </a:p>
        </p:txBody>
      </p:sp>
      <p:sp>
        <p:nvSpPr>
          <p:cNvPr id="2" name="text_114">
            <a:extLst xmlns:a="http://schemas.openxmlformats.org/drawingml/2006/main">
              <a:ext uri="{FF2B5EF4-FFF2-40B4-BE49-F238E27FC236}">
                <a16:creationId xmlns:a16="http://schemas.microsoft.com/office/drawing/2014/main" id="{856BDA41-55E8-4D5B-B36D-6304F6B8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9C9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9B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714375">
                <a:tc>
                  <a:txBody>
                    <a:bodyPr lIns="209550" tIns="114300" rIns="1905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E8BB8D"/>
                          </a:solidFill>
                          <a:latin typeface="Arial"/>
                          <a:ea typeface="Arial"/>
                          <a:cs typeface="Arial"/>
                        </a:rPr>
                        <a:t>AI u ovom primeru</a:t>
                      </a:r>
                    </a:p>
                  </a:txBody>
                  <a:tcPr marL="91440" marR="91440" marT="45720" marB="45720" anchor="ctr">
                    <a:solidFill>
                      <a:srgbClr val="2D5447"/>
                    </a:solidFill>
                  </a:tcPr>
                </a:tc>
                <a:tc>
                  <a:txBody>
                    <a:bodyPr lIns="209550" tIns="114300" rIns="1905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E8BB8D"/>
                          </a:solidFill>
                          <a:latin typeface="Arial"/>
                          <a:ea typeface="Arial"/>
                          <a:cs typeface="Arial"/>
                        </a:rPr>
                        <a:t>Može i bez AI</a:t>
                      </a:r>
                    </a:p>
                  </a:txBody>
                  <a:tcPr marL="91440" marR="91440" marT="45720" marB="45720" anchor="ctr">
                    <a:solidFill>
                      <a:srgbClr val="2D5447"/>
                    </a:solidFill>
                  </a:tcPr>
                </a:tc>
              </a:tr>
              <a:tr h="714375">
                <a:tc>
                  <a:txBody>
                    <a:bodyPr lIns="209550" tIns="114300" rIns="1905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Naučeno prepoznavanje ljudi</a:t>
                      </a:r>
                    </a:p>
                  </a:txBody>
                  <a:tcPr marL="91440" marR="91440" marT="45720" marB="45720" anchor="ctr">
                    <a:solidFill>
                      <a:srgbClr val="183D36"/>
                    </a:solidFill>
                  </a:tcPr>
                </a:tc>
                <a:tc>
                  <a:txBody>
                    <a:bodyPr lIns="209550" tIns="114300" rIns="1905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Stabilizacija leta (PID)</a:t>
                      </a:r>
                    </a:p>
                  </a:txBody>
                  <a:tcPr marL="91440" marR="91440" marT="45720" marB="45720" anchor="ctr">
                    <a:solidFill>
                      <a:srgbClr val="183D36"/>
                    </a:solidFill>
                  </a:tcPr>
                </a:tc>
              </a:tr>
              <a:tr h="714375">
                <a:tc>
                  <a:txBody>
                    <a:bodyPr lIns="209550" tIns="114300" rIns="1905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Razlikovanje vrsta objekata</a:t>
                      </a:r>
                    </a:p>
                  </a:txBody>
                  <a:tcPr marL="91440" marR="91440" marT="45720" marB="45720" anchor="ctr">
                    <a:solidFill>
                      <a:srgbClr val="183D36"/>
                    </a:solidFill>
                  </a:tcPr>
                </a:tc>
                <a:tc>
                  <a:txBody>
                    <a:bodyPr lIns="209550" tIns="114300" rIns="1905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Ručno upravljanje i snimanje</a:t>
                      </a:r>
                    </a:p>
                  </a:txBody>
                  <a:tcPr marL="91440" marR="91440" marT="45720" marB="45720" anchor="ctr">
                    <a:solidFill>
                      <a:srgbClr val="183D36"/>
                    </a:solidFill>
                  </a:tcPr>
                </a:tc>
              </a:tr>
              <a:tr h="714375">
                <a:tc>
                  <a:txBody>
                    <a:bodyPr lIns="209550" tIns="114300" rIns="1905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Izdvajanje mogućih osoba</a:t>
                      </a:r>
                    </a:p>
                  </a:txBody>
                  <a:tcPr marL="91440" marR="91440" marT="45720" marB="45720" anchor="ctr">
                    <a:solidFill>
                      <a:srgbClr val="183D36"/>
                    </a:solidFill>
                  </a:tcPr>
                </a:tc>
                <a:tc>
                  <a:txBody>
                    <a:bodyPr lIns="209550" tIns="114300" rIns="1905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Let po zadatoj GPS putanji</a:t>
                      </a:r>
                    </a:p>
                  </a:txBody>
                  <a:tcPr marL="91440" marR="91440" marT="45720" marB="45720" anchor="ctr">
                    <a:solidFill>
                      <a:srgbClr val="183D36"/>
                    </a:solidFill>
                  </a:tcPr>
                </a:tc>
              </a:tr>
            </a:tbl>
          </a:graphicData>
        </a:graphic>
      </p:graphicFrame>
      <p:sp>
        <p:nvSpPr>
          <p:cNvPr id="4" name="text_115">
            <a:extLst xmlns:a="http://schemas.openxmlformats.org/drawingml/2006/main">
              <a:ext uri="{FF2B5EF4-FFF2-40B4-BE49-F238E27FC236}">
                <a16:creationId xmlns:a16="http://schemas.microsoft.com/office/drawing/2014/main" id="{30251C4A-D9F6-46C8-93A7-58C02CC3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Automatski let sam po sebi ne znači AI.</a:t>
            </a:r>
          </a:p>
        </p:txBody>
      </p:sp>
    </p:spTree>
    <p:extLst>
      <p:ext uri="{BB962C8B-B14F-4D97-AF65-F5344CB8AC3E}">
        <p14:creationId xmlns:p14="http://schemas.microsoft.com/office/powerpoint/2010/main" val="367635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2026-09-28T07:32:23.3450000Z</dcterms:created>
  <dcterms:modified xsi:type="dcterms:W3CDTF">2026-09-28T07:32:23.3450000Z</dcterms:modified>
</coreProperties>
</file>